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346aa67194bbf" /><Relationship Type="http://schemas.openxmlformats.org/officeDocument/2006/relationships/extended-properties" Target="/docProps/app.xml" Id="R9f249b2785754779" /><Relationship Type="http://schemas.openxmlformats.org/officeDocument/2006/relationships/officeDocument" Target="/ppt/presentation.xml" Id="Re90c5fbbce6046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296187697d467b"/>
  </p:sldMasterIdLst>
  <p:notesMasterIdLst>
    <p:notesMasterId xmlns:r="http://schemas.openxmlformats.org/officeDocument/2006/relationships" r:id="Rd5602af0656c4466"/>
  </p:notesMasterIdLst>
  <p:sldIdLst>
    <p:sldId xmlns:r="http://schemas.openxmlformats.org/officeDocument/2006/relationships" id="256" r:id="Rb83e9d05214346c7"/>
    <p:sldId xmlns:r="http://schemas.openxmlformats.org/officeDocument/2006/relationships" id="257" r:id="R5cf572c32a5347b3"/>
    <p:sldId xmlns:r="http://schemas.openxmlformats.org/officeDocument/2006/relationships" id="258" r:id="R2b85505bd8a54324"/>
    <p:sldId xmlns:r="http://schemas.openxmlformats.org/officeDocument/2006/relationships" id="259" r:id="R8bb9868ff51e4397"/>
    <p:sldId xmlns:r="http://schemas.openxmlformats.org/officeDocument/2006/relationships" id="260" r:id="R37123fc378524987"/>
    <p:sldId xmlns:r="http://schemas.openxmlformats.org/officeDocument/2006/relationships" id="261" r:id="R0f1db7fe1fd34469"/>
    <p:sldId xmlns:r="http://schemas.openxmlformats.org/officeDocument/2006/relationships" id="262" r:id="Re1dd1dbfac384983"/>
    <p:sldId xmlns:r="http://schemas.openxmlformats.org/officeDocument/2006/relationships" id="263" r:id="Rfa2309fc0ad34a0a"/>
    <p:sldId xmlns:r="http://schemas.openxmlformats.org/officeDocument/2006/relationships" id="264" r:id="R18f335a2f1784b37"/>
    <p:sldId xmlns:r="http://schemas.openxmlformats.org/officeDocument/2006/relationships" id="265" r:id="R156944136992417e"/>
    <p:sldId xmlns:r="http://schemas.openxmlformats.org/officeDocument/2006/relationships" id="266" r:id="Rba98cd0aa96747dc"/>
    <p:sldId xmlns:r="http://schemas.openxmlformats.org/officeDocument/2006/relationships" id="267" r:id="Rb8f03d46d9084454"/>
    <p:sldId xmlns:r="http://schemas.openxmlformats.org/officeDocument/2006/relationships" id="268" r:id="Re219004ce76d4bed"/>
    <p:sldId xmlns:r="http://schemas.openxmlformats.org/officeDocument/2006/relationships" id="269" r:id="R3102802fbf734dcd"/>
    <p:sldId xmlns:r="http://schemas.openxmlformats.org/officeDocument/2006/relationships" id="270" r:id="R3bc5b6d5686d4991"/>
    <p:sldId xmlns:r="http://schemas.openxmlformats.org/officeDocument/2006/relationships" id="271" r:id="R665d7efb867a48c4"/>
    <p:sldId xmlns:r="http://schemas.openxmlformats.org/officeDocument/2006/relationships" id="272" r:id="Re503c1d20dce4d7f"/>
    <p:sldId xmlns:r="http://schemas.openxmlformats.org/officeDocument/2006/relationships" id="273" r:id="Re8f5bf59edb04c38"/>
    <p:sldId xmlns:r="http://schemas.openxmlformats.org/officeDocument/2006/relationships" id="274" r:id="Rb92f444e32614e99"/>
    <p:sldId xmlns:r="http://schemas.openxmlformats.org/officeDocument/2006/relationships" id="275" r:id="Re429d2071ce84790"/>
    <p:sldId xmlns:r="http://schemas.openxmlformats.org/officeDocument/2006/relationships" id="276" r:id="Ra6f9237ef3d0461c"/>
    <p:sldId xmlns:r="http://schemas.openxmlformats.org/officeDocument/2006/relationships" id="277" r:id="R6d5157327f7c450e"/>
    <p:sldId xmlns:r="http://schemas.openxmlformats.org/officeDocument/2006/relationships" id="278" r:id="R8c2bc4aab2364b69"/>
    <p:sldId xmlns:r="http://schemas.openxmlformats.org/officeDocument/2006/relationships" id="279" r:id="R9d346abdc76f4d1e"/>
    <p:sldId xmlns:r="http://schemas.openxmlformats.org/officeDocument/2006/relationships" id="280" r:id="R5cbe39f2e4fb4e33"/>
    <p:sldId xmlns:r="http://schemas.openxmlformats.org/officeDocument/2006/relationships" id="281" r:id="Rffb7182432f745b5"/>
    <p:sldId xmlns:r="http://schemas.openxmlformats.org/officeDocument/2006/relationships" id="282" r:id="R5946553f903540af"/>
    <p:sldId xmlns:r="http://schemas.openxmlformats.org/officeDocument/2006/relationships" id="283" r:id="R682b0b19901442c6"/>
    <p:sldId xmlns:r="http://schemas.openxmlformats.org/officeDocument/2006/relationships" id="284" r:id="Rdc2b8c3feb0449fa"/>
    <p:sldId xmlns:r="http://schemas.openxmlformats.org/officeDocument/2006/relationships" id="285" r:id="R3c75736cb96841f6"/>
    <p:sldId xmlns:r="http://schemas.openxmlformats.org/officeDocument/2006/relationships" id="286" r:id="R80ddc17f7fb04a38"/>
    <p:sldId xmlns:r="http://schemas.openxmlformats.org/officeDocument/2006/relationships" id="287" r:id="Rdb2e2a0b1d944042"/>
    <p:sldId xmlns:r="http://schemas.openxmlformats.org/officeDocument/2006/relationships" id="288" r:id="R32a3815444934687"/>
    <p:sldId xmlns:r="http://schemas.openxmlformats.org/officeDocument/2006/relationships" id="289" r:id="R588a1bf7664a4fcc"/>
    <p:sldId xmlns:r="http://schemas.openxmlformats.org/officeDocument/2006/relationships" id="290" r:id="R432a5d08abf248c5"/>
    <p:sldId xmlns:r="http://schemas.openxmlformats.org/officeDocument/2006/relationships" id="291" r:id="R7d6a6d5b50e14761"/>
    <p:sldId xmlns:r="http://schemas.openxmlformats.org/officeDocument/2006/relationships" id="292" r:id="R4e52726a44fc4d2a"/>
    <p:sldId xmlns:r="http://schemas.openxmlformats.org/officeDocument/2006/relationships" id="293" r:id="Re1ee5fe582774cc2"/>
    <p:sldId xmlns:r="http://schemas.openxmlformats.org/officeDocument/2006/relationships" id="294" r:id="R75cabbf6ae0e442b"/>
    <p:sldId xmlns:r="http://schemas.openxmlformats.org/officeDocument/2006/relationships" id="295" r:id="R3e8aa5b3926d4d40"/>
    <p:sldId xmlns:r="http://schemas.openxmlformats.org/officeDocument/2006/relationships" id="296" r:id="Re90bfaf32aa84653"/>
    <p:sldId xmlns:r="http://schemas.openxmlformats.org/officeDocument/2006/relationships" id="297" r:id="R5a6e71539b9b47ca"/>
    <p:sldId xmlns:r="http://schemas.openxmlformats.org/officeDocument/2006/relationships" id="298" r:id="R63fc9d36c58240bd"/>
    <p:sldId xmlns:r="http://schemas.openxmlformats.org/officeDocument/2006/relationships" id="299" r:id="R3260b0148f244351"/>
    <p:sldId xmlns:r="http://schemas.openxmlformats.org/officeDocument/2006/relationships" id="300" r:id="R20f0d95b92d04c3c"/>
    <p:sldId xmlns:r="http://schemas.openxmlformats.org/officeDocument/2006/relationships" id="301" r:id="R87b729433b5a4093"/>
    <p:sldId xmlns:r="http://schemas.openxmlformats.org/officeDocument/2006/relationships" id="302" r:id="R2a24839ec5d9446f"/>
    <p:sldId xmlns:r="http://schemas.openxmlformats.org/officeDocument/2006/relationships" id="303" r:id="Re04e14afee3f400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d388e278144ff" /><Relationship Type="http://schemas.openxmlformats.org/officeDocument/2006/relationships/slideMaster" Target="/ppt/slideMasters/slideMaster1.xml" Id="R03296187697d467b" /><Relationship Type="http://schemas.openxmlformats.org/officeDocument/2006/relationships/notesMaster" Target="/ppt/notesMasters/notesMaster1.xml" Id="Rd5602af0656c4466" /><Relationship Type="http://schemas.openxmlformats.org/officeDocument/2006/relationships/presProps" Target="/ppt/presProps.xml" Id="R9db507ad3e6542a7" /><Relationship Type="http://schemas.openxmlformats.org/officeDocument/2006/relationships/tableStyles" Target="/ppt/tableStyles.xml" Id="R712bceed5e944a20" /><Relationship Type="http://schemas.openxmlformats.org/officeDocument/2006/relationships/slide" Target="/ppt/slides/slide1.xml" Id="Rb83e9d05214346c7" /><Relationship Type="http://schemas.openxmlformats.org/officeDocument/2006/relationships/slide" Target="/ppt/slides/slide2.xml" Id="R5cf572c32a5347b3" /><Relationship Type="http://schemas.openxmlformats.org/officeDocument/2006/relationships/slide" Target="/ppt/slides/slide3.xml" Id="R2b85505bd8a54324" /><Relationship Type="http://schemas.openxmlformats.org/officeDocument/2006/relationships/slide" Target="/ppt/slides/slide4.xml" Id="R8bb9868ff51e4397" /><Relationship Type="http://schemas.openxmlformats.org/officeDocument/2006/relationships/slide" Target="/ppt/slides/slide5.xml" Id="R37123fc378524987" /><Relationship Type="http://schemas.openxmlformats.org/officeDocument/2006/relationships/slide" Target="/ppt/slides/slide6.xml" Id="R0f1db7fe1fd34469" /><Relationship Type="http://schemas.openxmlformats.org/officeDocument/2006/relationships/slide" Target="/ppt/slides/slide7.xml" Id="Re1dd1dbfac384983" /><Relationship Type="http://schemas.openxmlformats.org/officeDocument/2006/relationships/slide" Target="/ppt/slides/slide8.xml" Id="Rfa2309fc0ad34a0a" /><Relationship Type="http://schemas.openxmlformats.org/officeDocument/2006/relationships/slide" Target="/ppt/slides/slide9.xml" Id="R18f335a2f1784b37" /><Relationship Type="http://schemas.openxmlformats.org/officeDocument/2006/relationships/slide" Target="/ppt/slides/slide10.xml" Id="R156944136992417e" /><Relationship Type="http://schemas.openxmlformats.org/officeDocument/2006/relationships/slide" Target="/ppt/slides/slide11.xml" Id="Rba98cd0aa96747dc" /><Relationship Type="http://schemas.openxmlformats.org/officeDocument/2006/relationships/slide" Target="/ppt/slides/slide12.xml" Id="Rb8f03d46d9084454" /><Relationship Type="http://schemas.openxmlformats.org/officeDocument/2006/relationships/slide" Target="/ppt/slides/slide13.xml" Id="Re219004ce76d4bed" /><Relationship Type="http://schemas.openxmlformats.org/officeDocument/2006/relationships/slide" Target="/ppt/slides/slide14.xml" Id="R3102802fbf734dcd" /><Relationship Type="http://schemas.openxmlformats.org/officeDocument/2006/relationships/slide" Target="/ppt/slides/slide15.xml" Id="R3bc5b6d5686d4991" /><Relationship Type="http://schemas.openxmlformats.org/officeDocument/2006/relationships/slide" Target="/ppt/slides/slide16.xml" Id="R665d7efb867a48c4" /><Relationship Type="http://schemas.openxmlformats.org/officeDocument/2006/relationships/slide" Target="/ppt/slides/slide17.xml" Id="Re503c1d20dce4d7f" /><Relationship Type="http://schemas.openxmlformats.org/officeDocument/2006/relationships/slide" Target="/ppt/slides/slide18.xml" Id="Re8f5bf59edb04c38" /><Relationship Type="http://schemas.openxmlformats.org/officeDocument/2006/relationships/slide" Target="/ppt/slides/slide19.xml" Id="Rb92f444e32614e99" /><Relationship Type="http://schemas.openxmlformats.org/officeDocument/2006/relationships/slide" Target="/ppt/slides/slide20.xml" Id="Re429d2071ce84790" /><Relationship Type="http://schemas.openxmlformats.org/officeDocument/2006/relationships/slide" Target="/ppt/slides/slide21.xml" Id="Ra6f9237ef3d0461c" /><Relationship Type="http://schemas.openxmlformats.org/officeDocument/2006/relationships/slide" Target="/ppt/slides/slide22.xml" Id="R6d5157327f7c450e" /><Relationship Type="http://schemas.openxmlformats.org/officeDocument/2006/relationships/slide" Target="/ppt/slides/slide23.xml" Id="R8c2bc4aab2364b69" /><Relationship Type="http://schemas.openxmlformats.org/officeDocument/2006/relationships/slide" Target="/ppt/slides/slide24.xml" Id="R9d346abdc76f4d1e" /><Relationship Type="http://schemas.openxmlformats.org/officeDocument/2006/relationships/slide" Target="/ppt/slides/slide25.xml" Id="R5cbe39f2e4fb4e33" /><Relationship Type="http://schemas.openxmlformats.org/officeDocument/2006/relationships/slide" Target="/ppt/slides/slide26.xml" Id="Rffb7182432f745b5" /><Relationship Type="http://schemas.openxmlformats.org/officeDocument/2006/relationships/slide" Target="/ppt/slides/slide27.xml" Id="R5946553f903540af" /><Relationship Type="http://schemas.openxmlformats.org/officeDocument/2006/relationships/slide" Target="/ppt/slides/slide28.xml" Id="R682b0b19901442c6" /><Relationship Type="http://schemas.openxmlformats.org/officeDocument/2006/relationships/slide" Target="/ppt/slides/slide29.xml" Id="Rdc2b8c3feb0449fa" /><Relationship Type="http://schemas.openxmlformats.org/officeDocument/2006/relationships/slide" Target="/ppt/slides/slide30.xml" Id="R3c75736cb96841f6" /><Relationship Type="http://schemas.openxmlformats.org/officeDocument/2006/relationships/slide" Target="/ppt/slides/slide31.xml" Id="R80ddc17f7fb04a38" /><Relationship Type="http://schemas.openxmlformats.org/officeDocument/2006/relationships/slide" Target="/ppt/slides/slide32.xml" Id="Rdb2e2a0b1d944042" /><Relationship Type="http://schemas.openxmlformats.org/officeDocument/2006/relationships/slide" Target="/ppt/slides/slide33.xml" Id="R32a3815444934687" /><Relationship Type="http://schemas.openxmlformats.org/officeDocument/2006/relationships/slide" Target="/ppt/slides/slide34.xml" Id="R588a1bf7664a4fcc" /><Relationship Type="http://schemas.openxmlformats.org/officeDocument/2006/relationships/slide" Target="/ppt/slides/slide35.xml" Id="R432a5d08abf248c5" /><Relationship Type="http://schemas.openxmlformats.org/officeDocument/2006/relationships/slide" Target="/ppt/slides/slide36.xml" Id="R7d6a6d5b50e14761" /><Relationship Type="http://schemas.openxmlformats.org/officeDocument/2006/relationships/slide" Target="/ppt/slides/slide37.xml" Id="R4e52726a44fc4d2a" /><Relationship Type="http://schemas.openxmlformats.org/officeDocument/2006/relationships/slide" Target="/ppt/slides/slide38.xml" Id="Re1ee5fe582774cc2" /><Relationship Type="http://schemas.openxmlformats.org/officeDocument/2006/relationships/slide" Target="/ppt/slides/slide39.xml" Id="R75cabbf6ae0e442b" /><Relationship Type="http://schemas.openxmlformats.org/officeDocument/2006/relationships/slide" Target="/ppt/slides/slide40.xml" Id="R3e8aa5b3926d4d40" /><Relationship Type="http://schemas.openxmlformats.org/officeDocument/2006/relationships/slide" Target="/ppt/slides/slide41.xml" Id="Re90bfaf32aa84653" /><Relationship Type="http://schemas.openxmlformats.org/officeDocument/2006/relationships/slide" Target="/ppt/slides/slide42.xml" Id="R5a6e71539b9b47ca" /><Relationship Type="http://schemas.openxmlformats.org/officeDocument/2006/relationships/slide" Target="/ppt/slides/slide43.xml" Id="R63fc9d36c58240bd" /><Relationship Type="http://schemas.openxmlformats.org/officeDocument/2006/relationships/slide" Target="/ppt/slides/slide44.xml" Id="R3260b0148f244351" /><Relationship Type="http://schemas.openxmlformats.org/officeDocument/2006/relationships/slide" Target="/ppt/slides/slide45.xml" Id="R20f0d95b92d04c3c" /><Relationship Type="http://schemas.openxmlformats.org/officeDocument/2006/relationships/slide" Target="/ppt/slides/slide46.xml" Id="R87b729433b5a4093" /><Relationship Type="http://schemas.openxmlformats.org/officeDocument/2006/relationships/slide" Target="/ppt/slides/slide47.xml" Id="R2a24839ec5d9446f" /><Relationship Type="http://schemas.openxmlformats.org/officeDocument/2006/relationships/slide" Target="/ppt/slides/slide48.xml" Id="Re04e14afee3f40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510aff6bd94c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f6e5b8cc774b98" /><Relationship Type="http://schemas.openxmlformats.org/officeDocument/2006/relationships/notesMaster" Target="/ppt/notesMasters/notesMaster1.xml" Id="R2378cac1e8c1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6f22418dc408c" /><Relationship Type="http://schemas.openxmlformats.org/officeDocument/2006/relationships/notesMaster" Target="/ppt/notesMasters/notesMaster1.xml" Id="R7a0239ecb01342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315c2373564eae" /><Relationship Type="http://schemas.openxmlformats.org/officeDocument/2006/relationships/notesMaster" Target="/ppt/notesMasters/notesMaster1.xml" Id="Re01cdb4f9588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ef02d905940ef" /><Relationship Type="http://schemas.openxmlformats.org/officeDocument/2006/relationships/notesMaster" Target="/ppt/notesMasters/notesMaster1.xml" Id="R5933488351cf45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22f7c5c8834c38" /><Relationship Type="http://schemas.openxmlformats.org/officeDocument/2006/relationships/notesMaster" Target="/ppt/notesMasters/notesMaster1.xml" Id="R31b1f6d8f0884b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7e129dbce49d0" /><Relationship Type="http://schemas.openxmlformats.org/officeDocument/2006/relationships/notesMaster" Target="/ppt/notesMasters/notesMaster1.xml" Id="R853064bed96b47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a513e8ba4f48cc" /><Relationship Type="http://schemas.openxmlformats.org/officeDocument/2006/relationships/notesMaster" Target="/ppt/notesMasters/notesMaster1.xml" Id="Rfe67024376a84b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7f2641c3dd48a5" /><Relationship Type="http://schemas.openxmlformats.org/officeDocument/2006/relationships/notesMaster" Target="/ppt/notesMasters/notesMaster1.xml" Id="R47afd474e87840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047c46cb8a40cf" /><Relationship Type="http://schemas.openxmlformats.org/officeDocument/2006/relationships/notesMaster" Target="/ppt/notesMasters/notesMaster1.xml" Id="Ra8c7fd172d5b4b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ab10d178fc410d" /><Relationship Type="http://schemas.openxmlformats.org/officeDocument/2006/relationships/notesMaster" Target="/ppt/notesMasters/notesMaster1.xml" Id="R7e2475d0a7424e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3993478a3b4997" /><Relationship Type="http://schemas.openxmlformats.org/officeDocument/2006/relationships/notesMaster" Target="/ppt/notesMasters/notesMaster1.xml" Id="R02f8583a1c3c42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b690d9ee4a46b9" /><Relationship Type="http://schemas.openxmlformats.org/officeDocument/2006/relationships/notesMaster" Target="/ppt/notesMasters/notesMaster1.xml" Id="R2eabf3ab10d048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0a241b183243e9" /><Relationship Type="http://schemas.openxmlformats.org/officeDocument/2006/relationships/notesMaster" Target="/ppt/notesMasters/notesMaster1.xml" Id="Rf142a2e594364d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b1606c342a47a4" /><Relationship Type="http://schemas.openxmlformats.org/officeDocument/2006/relationships/notesMaster" Target="/ppt/notesMasters/notesMaster1.xml" Id="Red953f40c0c347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69790b14a94273" /><Relationship Type="http://schemas.openxmlformats.org/officeDocument/2006/relationships/notesMaster" Target="/ppt/notesMasters/notesMaster1.xml" Id="R1522d2bd47554e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68b36e702d409c" /><Relationship Type="http://schemas.openxmlformats.org/officeDocument/2006/relationships/notesMaster" Target="/ppt/notesMasters/notesMaster1.xml" Id="Rfa34b4be4cf146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d09a1dabc14779" /><Relationship Type="http://schemas.openxmlformats.org/officeDocument/2006/relationships/notesMaster" Target="/ppt/notesMasters/notesMaster1.xml" Id="R4e272fd9150a4e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8851db17974bb9" /><Relationship Type="http://schemas.openxmlformats.org/officeDocument/2006/relationships/notesMaster" Target="/ppt/notesMasters/notesMaster1.xml" Id="R23c49ca823564d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e956c382da46e7" /><Relationship Type="http://schemas.openxmlformats.org/officeDocument/2006/relationships/notesMaster" Target="/ppt/notesMasters/notesMaster1.xml" Id="Rd36e541631954c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0c2a4110ba4df2" /><Relationship Type="http://schemas.openxmlformats.org/officeDocument/2006/relationships/notesMaster" Target="/ppt/notesMasters/notesMaster1.xml" Id="Rab8a63a94fd84b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60a6a561a841d2" /><Relationship Type="http://schemas.openxmlformats.org/officeDocument/2006/relationships/notesMaster" Target="/ppt/notesMasters/notesMaster1.xml" Id="R2c5f9e3c04cc4a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8e21f73e40486d" /><Relationship Type="http://schemas.openxmlformats.org/officeDocument/2006/relationships/notesMaster" Target="/ppt/notesMasters/notesMaster1.xml" Id="R2dcfcffd4b594d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14752f39b24e52" /><Relationship Type="http://schemas.openxmlformats.org/officeDocument/2006/relationships/notesMaster" Target="/ppt/notesMasters/notesMaster1.xml" Id="R20232d8bec2847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1964cc70d8743aa" /><Relationship Type="http://schemas.openxmlformats.org/officeDocument/2006/relationships/notesMaster" Target="/ppt/notesMasters/notesMaster1.xml" Id="R31a8187cb4504c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a09f217888849fe" /><Relationship Type="http://schemas.openxmlformats.org/officeDocument/2006/relationships/notesMaster" Target="/ppt/notesMasters/notesMaster1.xml" Id="R61594f45af4a45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2577bd2b00e4776" /><Relationship Type="http://schemas.openxmlformats.org/officeDocument/2006/relationships/notesMaster" Target="/ppt/notesMasters/notesMaster1.xml" Id="R4f4654b2429b474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73b8f1594b4cd7" /><Relationship Type="http://schemas.openxmlformats.org/officeDocument/2006/relationships/notesMaster" Target="/ppt/notesMasters/notesMaster1.xml" Id="R287b9e660c8c4c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4dfdd01d2f4190" /><Relationship Type="http://schemas.openxmlformats.org/officeDocument/2006/relationships/notesMaster" Target="/ppt/notesMasters/notesMaster1.xml" Id="R0f3b9ecb9cfb4b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e83eda39c024147" /><Relationship Type="http://schemas.openxmlformats.org/officeDocument/2006/relationships/notesMaster" Target="/ppt/notesMasters/notesMaster1.xml" Id="R3725eba3a67146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ec4c6fb3a414234" /><Relationship Type="http://schemas.openxmlformats.org/officeDocument/2006/relationships/notesMaster" Target="/ppt/notesMasters/notesMaster1.xml" Id="Re464bb8be62b4a6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573e9d228e74771" /><Relationship Type="http://schemas.openxmlformats.org/officeDocument/2006/relationships/notesMaster" Target="/ppt/notesMasters/notesMaster1.xml" Id="R7246c0201a204e8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4ecb68d4234ad1" /><Relationship Type="http://schemas.openxmlformats.org/officeDocument/2006/relationships/notesMaster" Target="/ppt/notesMasters/notesMaster1.xml" Id="R6975fc99bbb5461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162a7c9f4454479" /><Relationship Type="http://schemas.openxmlformats.org/officeDocument/2006/relationships/notesMaster" Target="/ppt/notesMasters/notesMaster1.xml" Id="R99f71faa3fac4eb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528c9ec8de4689" /><Relationship Type="http://schemas.openxmlformats.org/officeDocument/2006/relationships/notesMaster" Target="/ppt/notesMasters/notesMaster1.xml" Id="R096aada73ef542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e5271b660f847d4" /><Relationship Type="http://schemas.openxmlformats.org/officeDocument/2006/relationships/notesMaster" Target="/ppt/notesMasters/notesMaster1.xml" Id="Rc9d65b61250243d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c548e4974164d9f" /><Relationship Type="http://schemas.openxmlformats.org/officeDocument/2006/relationships/notesMaster" Target="/ppt/notesMasters/notesMaster1.xml" Id="Re52cbf3682b94cc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3b6a4b4f40f4432" /><Relationship Type="http://schemas.openxmlformats.org/officeDocument/2006/relationships/notesMaster" Target="/ppt/notesMasters/notesMaster1.xml" Id="R2562b26af88e4f2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d0762fb0e824721" /><Relationship Type="http://schemas.openxmlformats.org/officeDocument/2006/relationships/notesMaster" Target="/ppt/notesMasters/notesMaster1.xml" Id="Rcbf907ac8f68421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c0a5f8dd5b84069" /><Relationship Type="http://schemas.openxmlformats.org/officeDocument/2006/relationships/notesMaster" Target="/ppt/notesMasters/notesMaster1.xml" Id="Re42361d2431b43a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8592f88ecce4599" /><Relationship Type="http://schemas.openxmlformats.org/officeDocument/2006/relationships/notesMaster" Target="/ppt/notesMasters/notesMaster1.xml" Id="R79da9251224b478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c2101d92efa4f95" /><Relationship Type="http://schemas.openxmlformats.org/officeDocument/2006/relationships/notesMaster" Target="/ppt/notesMasters/notesMaster1.xml" Id="R0234a1582bba4c3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3a2c8ea12ac44e7" /><Relationship Type="http://schemas.openxmlformats.org/officeDocument/2006/relationships/notesMaster" Target="/ppt/notesMasters/notesMaster1.xml" Id="Ra4c90fee5a23498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b8f7c8f3a574693" /><Relationship Type="http://schemas.openxmlformats.org/officeDocument/2006/relationships/notesMaster" Target="/ppt/notesMasters/notesMaster1.xml" Id="Rcac7a5691bc14e5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4b7b886c8f44dff" /><Relationship Type="http://schemas.openxmlformats.org/officeDocument/2006/relationships/notesMaster" Target="/ppt/notesMasters/notesMaster1.xml" Id="R99f1b02174c1414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f9d2c322fb54d86" /><Relationship Type="http://schemas.openxmlformats.org/officeDocument/2006/relationships/notesMaster" Target="/ppt/notesMasters/notesMaster1.xml" Id="R156ab9e42a8e4c6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207b9e133ca4d93" /><Relationship Type="http://schemas.openxmlformats.org/officeDocument/2006/relationships/notesMaster" Target="/ppt/notesMasters/notesMaster1.xml" Id="R981ff608ffaa497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da79d2be307475b" /><Relationship Type="http://schemas.openxmlformats.org/officeDocument/2006/relationships/notesMaster" Target="/ppt/notesMasters/notesMaster1.xml" Id="Rec79ade20ba9452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40b398a6b394968" /><Relationship Type="http://schemas.openxmlformats.org/officeDocument/2006/relationships/notesMaster" Target="/ppt/notesMasters/notesMaster1.xml" Id="R9b0b66a0179b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</a:t>
            </a:r>
          </a:p>
          <a:p xmlns:a="http://schemas.openxmlformats.org/drawingml/2006/main">
            <a:r>
              <a:t>다섯 인증 역할과 공개 인증 폼의 실제 화면 47개입니다. 저장·초대·코드 실행·제출은 하지 않았습니다. 학습 화면 진입 시 활동이 기록될 수 있습니다. 원본 해상도 캡처와 URL은 supporting의 화면 카탈로그를 참조하십시오.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https://cs.coveedu.com/login</a:t>
            </a:r>
          </a:p>
          <a:p xmlns:a="http://schemas.openxmlformats.org/drawingml/2006/main">
            <a:r>
              <a:t>캡처: 2026-09-28T08:05:27.562Z</a:t>
            </a:r>
          </a:p>
          <a:p xmlns:a="http://schemas.openxmlformats.org/drawingml/2006/main">
            <a:r>
              <a:t>역할: 모든 역할</a:t>
            </a:r>
          </a:p>
          <a:p xmlns:a="http://schemas.openxmlformats.org/drawingml/2006/main">
            <a:r>
              <a:t>요구사항: FR-AUTH</a:t>
            </a:r>
          </a:p>
          <a:p xmlns:a="http://schemas.openxmlformats.org/drawingml/2006/main">
            <a:r>
              <a:t>동작: 보안 확인 후 ID와 비밀번호로 로그인합니다. Google·Naver 로그인도 제공합니다.</a:t>
            </a:r>
          </a:p>
          <a:p xmlns:a="http://schemas.openxmlformats.org/drawingml/2006/main">
            <a:r>
              <a:t>검증 범위: 정상 로그인을 관찰했습니다. 외부 인증 완료와 로그인 실패는 스테이징 테스트가 필요합니다.</a:t>
            </a:r>
          </a:p>
          <a:p xmlns:a="http://schemas.openxmlformats.org/drawingml/2006/main">
            <a:r>
              <a:t>이미지: supporting/02-screenshots/U01.png</a:t>
            </a:r>
          </a:p>
          <a:p xmlns:a="http://schemas.openxmlformats.org/drawingml/2006/main">
            <a:r>
              <a:t>자르기 좌표: 800, 32, 1365, 752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https://cs.coveedu.com/signup</a:t>
            </a:r>
          </a:p>
          <a:p xmlns:a="http://schemas.openxmlformats.org/drawingml/2006/main">
            <a:r>
              <a:t>캡처: 2026-09-28T08:18:53.975Z</a:t>
            </a:r>
          </a:p>
          <a:p xmlns:a="http://schemas.openxmlformats.org/drawingml/2006/main">
            <a:r>
              <a:t>역할: 비로그인 사용자</a:t>
            </a:r>
          </a:p>
          <a:p xmlns:a="http://schemas.openxmlformats.org/drawingml/2006/main">
            <a:r>
              <a:t>요구사항: FR-AUTH, FR-JOIN</a:t>
            </a:r>
          </a:p>
          <a:p xmlns:a="http://schemas.openxmlformats.org/drawingml/2006/main">
            <a:r>
              <a:t>동작: 학원과 계정 유형을 선택합니다. 학생은 이메일 없이 이름, ID, 비밀번호와 확인 값을 입력합니다.</a:t>
            </a:r>
          </a:p>
          <a:p xmlns:a="http://schemas.openxmlformats.org/drawingml/2006/main">
            <a:r>
              <a:t>검증 범위: ID는 허용 문자 5~30자, 비밀번호는 최소 8자입니다. 계정 유형 선택만으로 학원 역할이 부여되지 않습니다.</a:t>
            </a:r>
          </a:p>
          <a:p xmlns:a="http://schemas.openxmlformats.org/drawingml/2006/main">
            <a:r>
              <a:t>이미지: supporting/02-screenshots/U02.png</a:t>
            </a:r>
          </a:p>
          <a:p xmlns:a="http://schemas.openxmlformats.org/drawingml/2006/main">
            <a:r>
              <a:t>자르기 좌표: 800, 32, 1365, 705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https://cs.coveedu.com/signup</a:t>
            </a:r>
          </a:p>
          <a:p xmlns:a="http://schemas.openxmlformats.org/drawingml/2006/main">
            <a:r>
              <a:t>캡처: 2026-09-28T08:18:54.633Z</a:t>
            </a:r>
          </a:p>
          <a:p xmlns:a="http://schemas.openxmlformats.org/drawingml/2006/main">
            <a:r>
              <a:t>역할: 비로그인 사용자</a:t>
            </a:r>
          </a:p>
          <a:p xmlns:a="http://schemas.openxmlformats.org/drawingml/2006/main">
            <a:r>
              <a:t>요구사항: FR-AUTH, FR-JOIN</a:t>
            </a:r>
          </a:p>
          <a:p xmlns:a="http://schemas.openxmlformats.org/drawingml/2006/main">
            <a:r>
              <a:t>동작: 직원 선택 시 이메일 입력란이 추가됩니다. 학원 승인 또는 초대가 최종 역할을 결정합니다.</a:t>
            </a:r>
          </a:p>
          <a:p xmlns:a="http://schemas.openxmlformats.org/drawingml/2006/main">
            <a:r>
              <a:t>검증 범위: 폼 상단을 캡처했습니다. 비밀번호, 보안 확인 및 제출 제어는 아래에 이어집니다.</a:t>
            </a:r>
          </a:p>
          <a:p xmlns:a="http://schemas.openxmlformats.org/drawingml/2006/main">
            <a:r>
              <a:t>이미지: supporting/02-screenshots/U03.png</a:t>
            </a:r>
          </a:p>
          <a:p xmlns:a="http://schemas.openxmlformats.org/drawingml/2006/main">
            <a:r>
              <a:t>자르기 좌표: 800, 32, 1365, 705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https://cs.coveedu.com/forgot-password</a:t>
            </a:r>
          </a:p>
          <a:p xmlns:a="http://schemas.openxmlformats.org/drawingml/2006/main">
            <a:r>
              <a:t>캡처: 2026-09-28T08:19:25.449Z</a:t>
            </a:r>
          </a:p>
          <a:p xmlns:a="http://schemas.openxmlformats.org/drawingml/2006/main">
            <a:r>
              <a:t>역할: 비로그인 사용자</a:t>
            </a:r>
          </a:p>
          <a:p xmlns:a="http://schemas.openxmlformats.org/drawingml/2006/main">
            <a:r>
              <a:t>요구사항: FR-AUTH</a:t>
            </a:r>
          </a:p>
          <a:p xmlns:a="http://schemas.openxmlformats.org/drawingml/2006/main">
            <a:r>
              <a:t>동작: 첫 단계에서 로그인 ID를 입력합니다. 이메일 링크를 통한 새 비밀번호 설정을 안내합니다.</a:t>
            </a:r>
          </a:p>
          <a:p xmlns:a="http://schemas.openxmlformats.org/drawingml/2006/main">
            <a:r>
              <a:t>검증 범위: 캡처 당시 보안 확인 대기 상태입니다. 복구 메시지를 요청하지 않았습니다.</a:t>
            </a:r>
          </a:p>
          <a:p xmlns:a="http://schemas.openxmlformats.org/drawingml/2006/main">
            <a:r>
              <a:t>이미지: supporting/02-screenshots/U04.png</a:t>
            </a:r>
          </a:p>
          <a:p xmlns:a="http://schemas.openxmlformats.org/drawingml/2006/main">
            <a:r>
              <a:t>자르기 좌표: 800, 32, 1365, 681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https://cs.coveedu.com/admin/academies</a:t>
            </a:r>
          </a:p>
          <a:p xmlns:a="http://schemas.openxmlformats.org/drawingml/2006/main">
            <a:r>
              <a:t>캡처: 2026-09-28T05:06:09.052Z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FR-ADMIN</a:t>
            </a:r>
          </a:p>
          <a:p xmlns:a="http://schemas.openxmlformats.org/drawingml/2006/main">
            <a:r>
              <a:t>동작: 학원명·주소 검색과 상태 필터로 학원 상세를 엽니다. 조치 필요 영역은 운영 누락을 표시합니다.</a:t>
            </a:r>
          </a:p>
          <a:p xmlns:a="http://schemas.openxmlformats.org/drawingml/2006/main">
            <a:r>
              <a:t>검증 범위: 검토 시 목록에는 학원 3개가 있었습니다. 화면 수치는 관찰값이며 고정 요구사항이 아닙니다.</a:t>
            </a:r>
          </a:p>
          <a:p xmlns:a="http://schemas.openxmlformats.org/drawingml/2006/main">
            <a:r>
              <a:t>이미지: supporting/02-screenshots/A01.png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https://cs.coveedu.com/admin/academies/dlab-mapo</a:t>
            </a:r>
          </a:p>
          <a:p xmlns:a="http://schemas.openxmlformats.org/drawingml/2006/main">
            <a:r>
              <a:t>캡처: 2026-09-28T05:07:38.142Z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FR-ADMIN, FR-ANALYTICS</a:t>
            </a:r>
          </a:p>
          <a:p xmlns:a="http://schemas.openxmlformats.org/drawingml/2006/main">
            <a:r>
              <a:t>동작: 구성원, 반, 강좌 수와 커리큘럼 준비 상태 경고를 함께 표시합니다.</a:t>
            </a:r>
          </a:p>
          <a:p xmlns:a="http://schemas.openxmlformats.org/drawingml/2006/main">
            <a:r>
              <a:t>검증 범위: 강사 미배정 11건 경고가 학원 관리자 화면의 배정과 다릅니다. REV-01을 참조하십시오.</a:t>
            </a:r>
          </a:p>
          <a:p xmlns:a="http://schemas.openxmlformats.org/drawingml/2006/main">
            <a:r>
              <a:t>이미지: supporting/02-screenshots/A02.png</a:t>
            </a:r>
          </a:p>
          <a:p xmlns:a="http://schemas.openxmlformats.org/drawingml/2006/main">
            <a:r>
              <a:t>자르기 좌표: 280, 75, 1405, 740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https://cs.coveedu.com/admin/settings</a:t>
            </a:r>
          </a:p>
          <a:p xmlns:a="http://schemas.openxmlformats.org/drawingml/2006/main">
            <a:r>
              <a:t>캡처: 2026-09-28T05:07:53.325Z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FR-ADMIN, FR-UX</a:t>
            </a:r>
          </a:p>
          <a:p xmlns:a="http://schemas.openxmlformats.org/drawingml/2006/main">
            <a:r>
              <a:t>동작: 학원별로 실시간 모니터링, 반 현황, 포인트 및 반 순위를 독립 설정합니다.</a:t>
            </a:r>
          </a:p>
          <a:p xmlns:a="http://schemas.openxmlformats.org/drawingml/2006/main">
            <a:r>
              <a:t>검증 범위: 활성화된 설정을 캡처했습니다. 이번 검토에서 스위치를 변경하지 않았습니다.</a:t>
            </a:r>
          </a:p>
          <a:p xmlns:a="http://schemas.openxmlformats.org/drawingml/2006/main">
            <a:r>
              <a:t>이미지: supporting/02-screenshots/A03.png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https://cs.coveedu.com/admin/settings/points</a:t>
            </a:r>
          </a:p>
          <a:p xmlns:a="http://schemas.openxmlformats.org/drawingml/2006/main">
            <a:r>
              <a:t>캡처: 2026-09-28T05:08:06.700Z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FR-POINTS</a:t>
            </a:r>
          </a:p>
          <a:p xmlns:a="http://schemas.openxmlformats.org/drawingml/2006/main">
            <a:r>
              <a:t>동작: 학원별 기본·사용자 지정 보상과 일일 한도를 비교합니다.</a:t>
            </a:r>
          </a:p>
          <a:p xmlns:a="http://schemas.openxmlformats.org/drawingml/2006/main">
            <a:r>
              <a:t>검증 범위: Dlab-Mapo의 어려운 문제 보상은 15P입니다. 소스 기본값은 10P입니다.</a:t>
            </a:r>
          </a:p>
          <a:p xmlns:a="http://schemas.openxmlformats.org/drawingml/2006/main">
            <a:r>
              <a:t>이미지: supporting/02-screenshots/A04.png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https://cs.coveedu.com/admin/academies/dlab-mapo/settings/points</a:t>
            </a:r>
          </a:p>
          <a:p xmlns:a="http://schemas.openxmlformats.org/drawingml/2006/main">
            <a:r>
              <a:t>캡처: 2026-09-28T05:08:52.037Z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FR-POINTS</a:t>
            </a:r>
          </a:p>
          <a:p xmlns:a="http://schemas.openxmlformats.org/drawingml/2006/main">
            <a:r>
              <a:t>동작: 풀이·완료 보상은 별도 필드입니다. 저장, 취소, 기본값 복원은 서로 다른 작업입니다.</a:t>
            </a:r>
          </a:p>
          <a:p xmlns:a="http://schemas.openxmlformats.org/drawingml/2006/main">
            <a:r>
              <a:t>검증 범위: 폼 상단입니다. 출석, 학습 구간, 일일 한도 및 학생 미리보기는 아래에 이어집니다.</a:t>
            </a:r>
          </a:p>
          <a:p xmlns:a="http://schemas.openxmlformats.org/drawingml/2006/main">
            <a:r>
              <a:t>이미지: supporting/02-screenshots/A05.png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https://cs.coveedu.com/admin/operations</a:t>
            </a:r>
          </a:p>
          <a:p xmlns:a="http://schemas.openxmlformats.org/drawingml/2006/main">
            <a:r>
              <a:t>캡처: 2026-09-28T05:09:04.600Z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FR-OPS</a:t>
            </a:r>
          </a:p>
          <a:p xmlns:a="http://schemas.openxmlformats.org/drawingml/2006/main">
            <a:r>
              <a:t>동작: 학원 선택 후 문제를 선택하고 재채점을 계획합니다. 현재 진도와 최초 시도 이력을 구분합니다.</a:t>
            </a:r>
          </a:p>
          <a:p xmlns:a="http://schemas.openxmlformats.org/drawingml/2006/main">
            <a:r>
              <a:t>검증 범위: 재채점을 계획하거나 실행하지 않았습니다. 대기·실패·완료 상태는 통제된 테스트가 필요합니다.</a:t>
            </a:r>
          </a:p>
          <a:p xmlns:a="http://schemas.openxmlformats.org/drawingml/2006/main">
            <a:r>
              <a:t>이미지: supporting/02-screenshots/A06.png</a:t>
            </a:r>
          </a:p>
          <a:p xmlns:a="http://schemas.openxmlformats.org/drawingml/2006/main">
            <a:r>
              <a:t>자르기 좌표: 280, 75, 1405, 743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https://cs.coveedu.com/admin/access</a:t>
            </a:r>
          </a:p>
          <a:p xmlns:a="http://schemas.openxmlformats.org/drawingml/2006/main">
            <a:r>
              <a:t>캡처: 2026-09-28T05:10:03.563Z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FR-SUPPORT</a:t>
            </a:r>
          </a:p>
          <a:p xmlns:a="http://schemas.openxmlformats.org/drawingml/2006/main">
            <a:r>
              <a:t>동작: 열린 지원 세션과 과거 권한의 학원, 사유, 역할 및 제한을 표시합니다.</a:t>
            </a:r>
          </a:p>
          <a:p xmlns:a="http://schemas.openxmlformats.org/drawingml/2006/main">
            <a:r>
              <a:t>검증 범위: 철회된 세션 2개를 확인했습니다. 새 지원 권한은 생성하지 않았습니다.</a:t>
            </a:r>
          </a:p>
          <a:p xmlns:a="http://schemas.openxmlformats.org/drawingml/2006/main">
            <a:r>
              <a:t>이미지: supporting/02-screenshots/A07.png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https://cs.coveedu.com/admin/audit</a:t>
            </a:r>
          </a:p>
          <a:p xmlns:a="http://schemas.openxmlformats.org/drawingml/2006/main">
            <a:r>
              <a:t>캡처: 2026-09-28T05:10:42.224Z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FR-SUPPORT</a:t>
            </a:r>
          </a:p>
          <a:p xmlns:a="http://schemas.openxmlformats.org/drawingml/2006/main">
            <a:r>
              <a:t>동작: 날짜별로 최신 이벤트부터 행위자, 학원 및 시각을 표시합니다.</a:t>
            </a:r>
          </a:p>
          <a:p xmlns:a="http://schemas.openxmlformats.org/drawingml/2006/main">
            <a:r>
              <a:t>검증 범위: 이벤트 표시 방식의 실제 캡처입니다. 모든 감사 대상 작업을 검증한 것은 아닙니다.</a:t>
            </a:r>
          </a:p>
          <a:p xmlns:a="http://schemas.openxmlformats.org/drawingml/2006/main">
            <a:r>
              <a:t>이미지: supporting/02-screenshots/A08.png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https://cs.coveedu.com/admin/content/library</a:t>
            </a:r>
          </a:p>
          <a:p xmlns:a="http://schemas.openxmlformats.org/drawingml/2006/main">
            <a:r>
              <a:t>캡처: 2026-09-28T05:11:04.930Z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FR-LIBRARY</a:t>
            </a:r>
          </a:p>
          <a:p xmlns:a="http://schemas.openxmlformats.org/drawingml/2006/main">
            <a:r>
              <a:t>동작: 게시 원본 강좌의 계층 수, 도입 범위 및 원본보다 뒤처진 복사본을 표시합니다.</a:t>
            </a:r>
          </a:p>
          <a:p xmlns:a="http://schemas.openxmlformats.org/drawingml/2006/main">
            <a:r>
              <a:t>검증 범위: 경고 배지는 채점 불가 콘텐츠를 나타냅니다. 게시·배포는 실행하지 않았습니다.</a:t>
            </a:r>
          </a:p>
          <a:p xmlns:a="http://schemas.openxmlformats.org/drawingml/2006/main">
            <a:r>
              <a:t>이미지: supporting/02-screenshots/A09.png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https://cs.coveedu.com/admin/content/library</a:t>
            </a:r>
          </a:p>
          <a:p xmlns:a="http://schemas.openxmlformats.org/drawingml/2006/main">
            <a:r>
              <a:t>캡처: 2026-09-28T05:11:18.667Z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FR-LIBRARY</a:t>
            </a:r>
          </a:p>
          <a:p xmlns:a="http://schemas.openxmlformats.org/drawingml/2006/main">
            <a:r>
              <a:t>동작: 필수 강좌 제목과 학원에 제공할 내용의 선택 설명을 입력합니다.</a:t>
            </a:r>
          </a:p>
          <a:p xmlns:a="http://schemas.openxmlformats.org/drawingml/2006/main">
            <a:r>
              <a:t>검증 범위: 새 원본은 초안 상태입니다. 빈 폼에서는 생성 후 열기가 비활성화됩니다.</a:t>
            </a:r>
          </a:p>
          <a:p xmlns:a="http://schemas.openxmlformats.org/drawingml/2006/main">
            <a:r>
              <a:t>이미지: supporting/02-screenshots/A10.png</a:t>
            </a:r>
          </a:p>
          <a:p xmlns:a="http://schemas.openxmlformats.org/drawingml/2006/main">
            <a:r>
              <a:t>자르기 좌표: 464, 129, 977, 650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https://cs.coveedu.com/admin/users?q=Cove+Platform+Admin</a:t>
            </a:r>
          </a:p>
          <a:p xmlns:a="http://schemas.openxmlformats.org/drawingml/2006/main">
            <a:r>
              <a:t>캡처: 2026-09-28T05:15:26.141Z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FR-ADMIN</a:t>
            </a:r>
          </a:p>
          <a:p xmlns:a="http://schemas.openxmlformats.org/drawingml/2006/main">
            <a:r>
              <a:t>동작: 학원, 역할, 계정·멤버십 상태로 검색·필터링합니다. 내보내기와 계정 작업은 별도 제어입니다.</a:t>
            </a:r>
          </a:p>
          <a:p xmlns:a="http://schemas.openxmlformats.org/drawingml/2006/main">
            <a:r>
              <a:t>검증 범위: 제공된 관리자 계정으로 필터링한 목록을 캡처했습니다.</a:t>
            </a:r>
          </a:p>
          <a:p xmlns:a="http://schemas.openxmlformats.org/drawingml/2006/main">
            <a:r>
              <a:t>이미지: supporting/02-screenshots/A11.png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https://cs.coveedu.com/admin/applications</a:t>
            </a:r>
          </a:p>
          <a:p xmlns:a="http://schemas.openxmlformats.org/drawingml/2006/main">
            <a:r>
              <a:t>캡처: 2026-09-28T05:15:44.516Z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FR-JOIN</a:t>
            </a:r>
          </a:p>
          <a:p xmlns:a="http://schemas.openxmlformats.org/drawingml/2006/main">
            <a:r>
              <a:t>동작: 학원·상태·조치 필요 필터와 대기 요약을 제공합니다.</a:t>
            </a:r>
          </a:p>
          <a:p xmlns:a="http://schemas.openxmlformats.org/drawingml/2006/main">
            <a:r>
              <a:t>검증 범위: 운영 대기열은 비어 있습니다. 승인·거절·오래된 검토 규칙은 소스와 미실행 QA를 참조합니다.</a:t>
            </a:r>
          </a:p>
          <a:p xmlns:a="http://schemas.openxmlformats.org/drawingml/2006/main">
            <a:r>
              <a:t>이미지: supporting/02-screenshots/A12.png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https://cs.coveedu.com/admin/invitations</a:t>
            </a:r>
          </a:p>
          <a:p xmlns:a="http://schemas.openxmlformats.org/drawingml/2006/main">
            <a:r>
              <a:t>캡처: 2026-09-28T08:04:45.580Z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FR-JOIN</a:t>
            </a:r>
          </a:p>
          <a:p xmlns:a="http://schemas.openxmlformats.org/drawingml/2006/main">
            <a:r>
              <a:t>동작: 전체 초대, 대기 초대 및 전달 실패 요약을 표와 별도로 표시합니다.</a:t>
            </a:r>
          </a:p>
          <a:p xmlns:a="http://schemas.openxmlformats.org/drawingml/2006/main">
            <a:r>
              <a:t>검증 범위: 요약은 7건이나 표는 비어 있습니다. 일치 확인 완료가 아닌 검토 항목으로 기록합니다.</a:t>
            </a:r>
          </a:p>
          <a:p xmlns:a="http://schemas.openxmlformats.org/drawingml/2006/main">
            <a:r>
              <a:t>이미지: supporting/02-screenshots/A13.png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https://cs.coveedu.com/admin/invitations</a:t>
            </a:r>
          </a:p>
          <a:p xmlns:a="http://schemas.openxmlformats.org/drawingml/2006/main">
            <a:r>
              <a:t>캡처: 2026-09-28T08:04:51.876Z</a:t>
            </a:r>
          </a:p>
          <a:p xmlns:a="http://schemas.openxmlformats.org/drawingml/2006/main">
            <a:r>
              <a:t>역할: 플랫폼 관리자</a:t>
            </a:r>
          </a:p>
          <a:p xmlns:a="http://schemas.openxmlformats.org/drawingml/2006/main">
            <a:r>
              <a:t>요구사항: FR-JOIN</a:t>
            </a:r>
          </a:p>
          <a:p xmlns:a="http://schemas.openxmlformats.org/drawingml/2006/main">
            <a:r>
              <a:t>동작: 학원·역할을 선택하고 수신자 이메일을 입력합니다. 링크는 해당 주소에 한해 7일간 유효합니다.</a:t>
            </a:r>
          </a:p>
          <a:p xmlns:a="http://schemas.openxmlformats.org/drawingml/2006/main">
            <a:r>
              <a:t>검증 범위: 빈 폼에서는 초대 발송이 비활성화됩니다. 이메일은 발송하지 않았습니다.</a:t>
            </a:r>
          </a:p>
          <a:p xmlns:a="http://schemas.openxmlformats.org/drawingml/2006/main">
            <a:r>
              <a:t>이미지: supporting/02-screenshots/A14.png</a:t>
            </a:r>
          </a:p>
          <a:p xmlns:a="http://schemas.openxmlformats.org/drawingml/2006/main">
            <a:r>
              <a:t>자르기 좌표: 464, 134, 977, 644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</a:t>
            </a:r>
          </a:p>
          <a:p xmlns:a="http://schemas.openxmlformats.org/drawingml/2006/main">
            <a:r>
              <a:t>캡처: 2026-09-28T08:05:43.584Z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FR-ANALYTICS</a:t>
            </a:r>
          </a:p>
          <a:p xmlns:a="http://schemas.openxmlformats.org/drawingml/2006/main">
            <a:r>
              <a:t>동작: 역할별 인원, 활성 반, 누락 프로필 및 보고 기간을 표시합니다. 조치 필요 항목에서 후속 작업으로 이동합니다.</a:t>
            </a:r>
          </a:p>
          <a:p xmlns:a="http://schemas.openxmlformats.org/drawingml/2006/main">
            <a:r>
              <a:t>검증 범위: 학원 연락처와 학생 행은 잘라냈습니다. 아래 영역의 참여도와 숙련도는 별도 지표입니다.</a:t>
            </a:r>
          </a:p>
          <a:p xmlns:a="http://schemas.openxmlformats.org/drawingml/2006/main">
            <a:r>
              <a:t>이미지: supporting/02-screenshots/M01.png</a:t>
            </a:r>
          </a:p>
          <a:p xmlns:a="http://schemas.openxmlformats.org/drawingml/2006/main">
            <a:r>
              <a:t>자르기 좌표: 288, 303, 1400, 745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https://cs.coveedu.com/academy/dlab-mapo/classes</a:t>
            </a:r>
          </a:p>
          <a:p xmlns:a="http://schemas.openxmlformats.org/drawingml/2006/main">
            <a:r>
              <a:t>캡처: 2026-09-28T08:06:05.058Z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FR-CLASS, FR-STAFF</a:t>
            </a:r>
          </a:p>
          <a:p xmlns:a="http://schemas.openxmlformats.org/drawingml/2006/main">
            <a:r>
              <a:t>동작: 상태, 배정 강좌, 등록 수, 담임과 보조 강사 수를 표시합니다.</a:t>
            </a:r>
          </a:p>
          <a:p xmlns:a="http://schemas.openxmlformats.org/drawingml/2006/main">
            <a:r>
              <a:t>검증 범위: 열기로 설정에 접근합니다. 검색, 상태, 열 선택 및 페이지 이동으로 반을 찾습니다.</a:t>
            </a:r>
          </a:p>
          <a:p xmlns:a="http://schemas.openxmlformats.org/drawingml/2006/main">
            <a:r>
              <a:t>이미지: supporting/02-screenshots/M02.png</a:t>
            </a:r>
          </a:p>
          <a:p xmlns:a="http://schemas.openxmlformats.org/drawingml/2006/main">
            <a:r>
              <a:t>자르기 좌표: 280, 75, 1405, 730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https://cs.coveedu.com/academy/dlab-mapo/classes</a:t>
            </a:r>
          </a:p>
          <a:p xmlns:a="http://schemas.openxmlformats.org/drawingml/2006/main">
            <a:r>
              <a:t>캡처: 2026-09-28T08:06:14.132Z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FR-CLASS</a:t>
            </a:r>
          </a:p>
          <a:p xmlns:a="http://schemas.openxmlformats.org/drawingml/2006/main">
            <a:r>
              <a:t>동작: 반 이름은 필수이고 대상 설명은 선택입니다. 강좌와 학생은 생성 후 추가합니다.</a:t>
            </a:r>
          </a:p>
          <a:p xmlns:a="http://schemas.openxmlformats.org/drawingml/2006/main">
            <a:r>
              <a:t>검증 범위: 반 이름은 고유 식별자가 아닙니다. 소스 한도는 이름 120자, 설명 2,000자입니다.</a:t>
            </a:r>
          </a:p>
          <a:p xmlns:a="http://schemas.openxmlformats.org/drawingml/2006/main">
            <a:r>
              <a:t>이미지: supporting/02-screenshots/M03.png</a:t>
            </a:r>
          </a:p>
          <a:p xmlns:a="http://schemas.openxmlformats.org/drawingml/2006/main">
            <a:r>
              <a:t>자르기 좌표: 464, 102, 977, 621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https://cs.coveedu.com/academy/dlab-mapo/classes/765ff8da-b032-476d-b403-9d4e7ceac61e</a:t>
            </a:r>
          </a:p>
          <a:p xmlns:a="http://schemas.openxmlformats.org/drawingml/2006/main">
            <a:r>
              <a:t>캡처: 2026-09-28T08:06:35.411Z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FR-CLASS</a:t>
            </a:r>
          </a:p>
          <a:p xmlns:a="http://schemas.openxmlformats.org/drawingml/2006/main">
            <a:r>
              <a:t>동작: 반 헤더가 강좌·학생·강사 정보를 구분합니다. 강좌 배정으로 해당 반의 커리큘럼 범위를 관리합니다.</a:t>
            </a:r>
          </a:p>
          <a:p xmlns:a="http://schemas.openxmlformats.org/drawingml/2006/main">
            <a:r>
              <a:t>검증 범위: 일반적인 종료 작업은 보관입니다. 배정 후에도 강좌 공개 여부에 따라 학생 접근을 제한합니다.</a:t>
            </a:r>
          </a:p>
          <a:p xmlns:a="http://schemas.openxmlformats.org/drawingml/2006/main">
            <a:r>
              <a:t>이미지: supporting/02-screenshots/M04.png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https://cs.coveedu.com/academy/dlab-mapo/classes/765ff8da-b032-476d-b403-9d4e7ceac61e</a:t>
            </a:r>
          </a:p>
          <a:p xmlns:a="http://schemas.openxmlformats.org/drawingml/2006/main">
            <a:r>
              <a:t>캡처: 2026-09-28T08:06:49.812Z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FR-CLASS, FR-POINTS</a:t>
            </a:r>
          </a:p>
          <a:p xmlns:a="http://schemas.openxmlformats.org/drawingml/2006/main">
            <a:r>
              <a:t>동작: 인라인 편집기에서 요일별 시작·종료 시간을 묶습니다. 저장 전 구간 추가·제거가 가능합니다.</a:t>
            </a:r>
          </a:p>
          <a:p xmlns:a="http://schemas.openxmlformats.org/drawingml/2006/main">
            <a:r>
              <a:t>검증 범위: 최대 21개 구간과 자정을 넘는 시간을 허용합니다. 시간표가 없으면 출석 포인트를 지급하지 않습니다.</a:t>
            </a:r>
          </a:p>
          <a:p xmlns:a="http://schemas.openxmlformats.org/drawingml/2006/main">
            <a:r>
              <a:t>이미지: supporting/02-screenshots/M05.png</a:t>
            </a:r>
          </a:p>
          <a:p xmlns:a="http://schemas.openxmlformats.org/drawingml/2006/main">
            <a:r>
              <a:t>자르기 좌표: 288, 328, 1400, 696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https://cs.coveedu.com/academy/dlab-mapo/people?q=mapo-manager</a:t>
            </a:r>
          </a:p>
          <a:p xmlns:a="http://schemas.openxmlformats.org/drawingml/2006/main">
            <a:r>
              <a:t>캡처: 2026-09-28T08:07:25.948Z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FR-PEOPLE, FR-ROLE</a:t>
            </a:r>
          </a:p>
          <a:p xmlns:a="http://schemas.openxmlformats.org/drawingml/2006/main">
            <a:r>
              <a:t>동작: 학원 멤버십을 서버 검색·역할·상태 필터·페이지로 조회합니다. 제공 관리자에게 추가 역할 2개가 있습니다.</a:t>
            </a:r>
          </a:p>
          <a:p xmlns:a="http://schemas.openxmlformats.org/drawingml/2006/main">
            <a:r>
              <a:t>검증 범위: 필터링된 행은 기본 역할만으로 전체 권한을 설명할 수 없음을 보여 줍니다.</a:t>
            </a:r>
          </a:p>
          <a:p xmlns:a="http://schemas.openxmlformats.org/drawingml/2006/main">
            <a:r>
              <a:t>이미지: supporting/02-screenshots/M06.png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https://cs.coveedu.com/academy/dlab-mapo/people?q=mapo-manager</a:t>
            </a:r>
          </a:p>
          <a:p xmlns:a="http://schemas.openxmlformats.org/drawingml/2006/main">
            <a:r>
              <a:t>캡처: 2026-09-28T08:07:33.582Z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FR-PEOPLE</a:t>
            </a:r>
          </a:p>
          <a:p xmlns:a="http://schemas.openxmlformats.org/drawingml/2006/main">
            <a:r>
              <a:t>동작: CSV·XLSX, 최대 500행·5 MB를 지원합니다. email·role 필수, display_name·send_invitation 선택입니다.</a:t>
            </a:r>
          </a:p>
          <a:p xmlns:a="http://schemas.openxmlformats.org/drawingml/2006/main">
            <a:r>
              <a:t>검증 범위: 업로드 후 미리보기를 생성합니다. 검토·확정 후 멤버십·초대를 변경합니다.</a:t>
            </a:r>
          </a:p>
          <a:p xmlns:a="http://schemas.openxmlformats.org/drawingml/2006/main">
            <a:r>
              <a:t>이미지: supporting/02-screenshots/M07.png</a:t>
            </a:r>
          </a:p>
          <a:p xmlns:a="http://schemas.openxmlformats.org/drawingml/2006/main">
            <a:r>
              <a:t>자르기 좌표: 272, 127, 1168, 595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https://cs.coveedu.com/academy/dlab-mapo/settings</a:t>
            </a:r>
          </a:p>
          <a:p xmlns:a="http://schemas.openxmlformats.org/drawingml/2006/main">
            <a:r>
              <a:t>캡처: 2026-09-28T08:07:58.181Z</a:t>
            </a:r>
          </a:p>
          <a:p xmlns:a="http://schemas.openxmlformats.org/drawingml/2006/main">
            <a:r>
              <a:t>역할: 학원 관리자</a:t>
            </a:r>
          </a:p>
          <a:p xmlns:a="http://schemas.openxmlformats.org/drawingml/2006/main">
            <a:r>
              <a:t>요구사항: FR-UX, FR-POINTS</a:t>
            </a:r>
          </a:p>
          <a:p xmlns:a="http://schemas.openxmlformats.org/drawingml/2006/main">
            <a:r>
              <a:t>동작: 학원 관리자가 기능을 설정합니다. 반 순위는 포인트에 의존하며 반 현황보다 우선합니다.</a:t>
            </a:r>
          </a:p>
          <a:p xmlns:a="http://schemas.openxmlformats.org/drawingml/2006/main">
            <a:r>
              <a:t>검증 범위: 반 순위를 켜면 포인트도 활성화됩니다. 이 동작은 스테이징 검증 대상입니다.</a:t>
            </a:r>
          </a:p>
          <a:p xmlns:a="http://schemas.openxmlformats.org/drawingml/2006/main">
            <a:r>
              <a:t>이미지: supporting/02-screenshots/M08.png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</a:t>
            </a:r>
          </a:p>
          <a:p xmlns:a="http://schemas.openxmlformats.org/drawingml/2006/main">
            <a:r>
              <a:t>캡처: 2026-09-28T08:08:27.005Z</a:t>
            </a:r>
          </a:p>
          <a:p xmlns:a="http://schemas.openxmlformats.org/drawingml/2006/main">
            <a:r>
              <a:t>역할: 팀장</a:t>
            </a:r>
          </a:p>
          <a:p xmlns:a="http://schemas.openxmlformats.org/drawingml/2006/main">
            <a:r>
              <a:t>요구사항: FR-COURSE, FR-ANALYTICS</a:t>
            </a:r>
          </a:p>
          <a:p xmlns:a="http://schemas.openxmlformats.org/drawingml/2006/main">
            <a:r>
              <a:t>동작: 공개·상위 숨김으로 차단·숨김 문제를 구분합니다. 공개 문제라도 상위가 숨김이면 차단됩니다.</a:t>
            </a:r>
          </a:p>
          <a:p xmlns:a="http://schemas.openxmlformats.org/drawingml/2006/main">
            <a:r>
              <a:t>검증 범위: 목록과 명단은 현재 상태이며 효과성은 선택 측정 기간을 사용합니다.</a:t>
            </a:r>
          </a:p>
          <a:p xmlns:a="http://schemas.openxmlformats.org/drawingml/2006/main">
            <a:r>
              <a:t>이미지: supporting/02-screenshots/L01.png</a:t>
            </a:r>
          </a:p>
          <a:p xmlns:a="http://schemas.openxmlformats.org/drawingml/2006/main">
            <a:r>
              <a:t>자르기 좌표: 280, 75, 1405, 683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https://cs.coveedu.com/academy/dlab-mapo/content/courses</a:t>
            </a:r>
          </a:p>
          <a:p xmlns:a="http://schemas.openxmlformats.org/drawingml/2006/main">
            <a:r>
              <a:t>캡처: 2026-09-28T08:08:49.784Z</a:t>
            </a:r>
          </a:p>
          <a:p xmlns:a="http://schemas.openxmlformats.org/drawingml/2006/main">
            <a:r>
              <a:t>역할: 팀장</a:t>
            </a:r>
          </a:p>
          <a:p xmlns:a="http://schemas.openxmlformats.org/drawingml/2006/main">
            <a:r>
              <a:t>요구사항: FR-COURSE, FR-LIBRARY</a:t>
            </a:r>
          </a:p>
          <a:p xmlns:a="http://schemas.openxmlformats.org/drawingml/2006/main">
            <a:r>
              <a:t>동작: 공개 상태와 콘텐츠 수를 표시합니다. 라이브러리 복사본은 원본명, 업데이트 및 수정 상태를 유지합니다.</a:t>
            </a:r>
          </a:p>
          <a:p xmlns:a="http://schemas.openxmlformats.org/drawingml/2006/main">
            <a:r>
              <a:t>검증 범위: 최신 상태와 사용자 수정 상태는 동시에 가능합니다. 원본 리비전과 로컬 변경은 별개입니다.</a:t>
            </a:r>
          </a:p>
          <a:p xmlns:a="http://schemas.openxmlformats.org/drawingml/2006/main">
            <a:r>
              <a:t>이미지: supporting/02-screenshots/L02.png</a:t>
            </a:r>
          </a:p>
          <a:p xmlns:a="http://schemas.openxmlformats.org/drawingml/2006/main">
            <a:r>
              <a:t>자르기 좌표: 280, 75, 1405, 698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https://cs.coveedu.com/academy/dlab-mapo/content/courses/2fde4465-780c-556c-ac91-0812a754cff7</a:t>
            </a:r>
          </a:p>
          <a:p xmlns:a="http://schemas.openxmlformats.org/drawingml/2006/main">
            <a:r>
              <a:t>캡처: 2026-09-28T08:09:19.632Z</a:t>
            </a:r>
          </a:p>
          <a:p xmlns:a="http://schemas.openxmlformats.org/drawingml/2006/main">
            <a:r>
              <a:t>역할: 팀장</a:t>
            </a:r>
          </a:p>
          <a:p xmlns:a="http://schemas.openxmlformats.org/drawingml/2006/main">
            <a:r>
              <a:t>요구사항: FR-COURSE</a:t>
            </a:r>
          </a:p>
          <a:p xmlns:a="http://schemas.openxmlformats.org/drawingml/2006/main">
            <a:r>
              <a:t>동작: 모듈 안에 강의, 강의 안에 문제가 있습니다. 각 계층에 공개 제어와 순서가 있습니다.</a:t>
            </a:r>
          </a:p>
          <a:p xmlns:a="http://schemas.openxmlformats.org/drawingml/2006/main">
            <a:r>
              <a:t>검증 범위: 모든 콘텐츠 표시는 하위 항목에 적용됩니다. 강좌 게시 스위치는 별도입니다.</a:t>
            </a:r>
          </a:p>
          <a:p xmlns:a="http://schemas.openxmlformats.org/drawingml/2006/main">
            <a:r>
              <a:t>이미지: supporting/02-screenshots/L03.png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https://cs.coveedu.com/academy/dlab-mapo/content/courses/2fde4465-780c-556c-ac91-0812a754cff7/imports/new</a:t>
            </a:r>
          </a:p>
          <a:p xmlns:a="http://schemas.openxmlformats.org/drawingml/2006/main">
            <a:r>
              <a:t>캡처: 2026-09-28T08:09:47.586Z</a:t>
            </a:r>
          </a:p>
          <a:p xmlns:a="http://schemas.openxmlformats.org/drawingml/2006/main">
            <a:r>
              <a:t>역할: 팀장</a:t>
            </a:r>
          </a:p>
          <a:p xmlns:a="http://schemas.openxmlformats.org/drawingml/2006/main">
            <a:r>
              <a:t>요구사항: FR-IMPORT</a:t>
            </a:r>
          </a:p>
          <a:p xmlns:a="http://schemas.openxmlformats.org/drawingml/2006/main">
            <a:r>
              <a:t>동작: 준비 후 업로드·검토·결과로 진행합니다. 수정 시 현재 강좌를 내려받아 안정적인 키를 유지합니다.</a:t>
            </a:r>
          </a:p>
          <a:p xmlns:a="http://schemas.openxmlformats.org/drawingml/2006/main">
            <a:r>
              <a:t>검증 범위: XLSX 한도는 10 MiB입니다. 행 제거는 콘텐츠 삭제가 아니며 신규 콘텐츠는 숨김으로 생성합니다.</a:t>
            </a:r>
          </a:p>
          <a:p xmlns:a="http://schemas.openxmlformats.org/drawingml/2006/main">
            <a:r>
              <a:t>이미지: supporting/02-screenshots/L04.png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https://cs.coveedu.com/academy/dlab-mapo/content/courses/2fde4465-780c-556c-ac91-0812a754cff7/lectures/ce4bbac1-e0a0-52d2-95ea-7ba8b9df3a12/exercises/new</a:t>
            </a:r>
          </a:p>
          <a:p xmlns:a="http://schemas.openxmlformats.org/drawingml/2006/main">
            <a:r>
              <a:t>캡처: 2026-09-28T08:10:19.927Z</a:t>
            </a:r>
          </a:p>
          <a:p xmlns:a="http://schemas.openxmlformats.org/drawingml/2006/main">
            <a:r>
              <a:t>역할: 팀장</a:t>
            </a:r>
          </a:p>
          <a:p xmlns:a="http://schemas.openxmlformats.org/drawingml/2006/main">
            <a:r>
              <a:t>요구사항: FR-COURSE</a:t>
            </a:r>
          </a:p>
          <a:p xmlns:a="http://schemas.openxmlformats.org/drawingml/2006/main">
            <a:r>
              <a:t>동작: 제목, 난이도, 리치 텍스트 설명으로 시작합니다. 아래에 시작 코드, 정답 코드 및 채점 테스트가 이어집니다.</a:t>
            </a:r>
          </a:p>
          <a:p xmlns:a="http://schemas.openxmlformats.org/drawingml/2006/main">
            <a:r>
              <a:t>검증 범위: 빈 폼에는 제목·설명·정답 코드가 필요합니다. 구현 언어는 Python입니다.</a:t>
            </a:r>
          </a:p>
          <a:p xmlns:a="http://schemas.openxmlformats.org/drawingml/2006/main">
            <a:r>
              <a:t>이미지: supporting/02-screenshots/L05.png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https://cs.coveedu.com/academy/dlab-mapo/content/courses/2fde4465-780c-556c-ac91-0812a754cff7/lectures/ce4bbac1-e0a0-52d2-95ea-7ba8b9df3a12/exercises/new</a:t>
            </a:r>
          </a:p>
          <a:p xmlns:a="http://schemas.openxmlformats.org/drawingml/2006/main">
            <a:r>
              <a:t>캡처: 2026-09-28T08:10:54.053Z</a:t>
            </a:r>
          </a:p>
          <a:p xmlns:a="http://schemas.openxmlformats.org/drawingml/2006/main">
            <a:r>
              <a:t>역할: 팀장</a:t>
            </a:r>
          </a:p>
          <a:p xmlns:a="http://schemas.openxmlformats.org/drawingml/2006/main">
            <a:r>
              <a:t>요구사항: FR-COURSE, FR-GRADE</a:t>
            </a:r>
          </a:p>
          <a:p xmlns:a="http://schemas.openxmlformats.org/drawingml/2006/main">
            <a:r>
              <a:t>동작: 테스트별 입력·기대 출력·샘플 또는 비공개 상태를 설정합니다. 힌트는 선택이며 순서가 있습니다.</a:t>
            </a:r>
          </a:p>
          <a:p xmlns:a="http://schemas.openxmlformats.org/drawingml/2006/main">
            <a:r>
              <a:t>검증 범위: 테스트 없이 저장은 가능하지만 제출은 불가합니다. 학생에게 비공개 기대 출력과 정답 코드를 전달하면 안 됩니다.</a:t>
            </a:r>
          </a:p>
          <a:p xmlns:a="http://schemas.openxmlformats.org/drawingml/2006/main">
            <a:r>
              <a:t>이미지: supporting/02-screenshots/L06.png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https://cs.coveedu.com/academy/dlab-mapo/content/library</a:t>
            </a:r>
          </a:p>
          <a:p xmlns:a="http://schemas.openxmlformats.org/drawingml/2006/main">
            <a:r>
              <a:t>캡처: 2026-09-28T08:11:17.295Z</a:t>
            </a:r>
          </a:p>
          <a:p xmlns:a="http://schemas.openxmlformats.org/drawingml/2006/main">
            <a:r>
              <a:t>역할: 팀장</a:t>
            </a:r>
          </a:p>
          <a:p xmlns:a="http://schemas.openxmlformats.org/drawingml/2006/main">
            <a:r>
              <a:t>요구사항: FR-LIBRARY</a:t>
            </a:r>
          </a:p>
          <a:p xmlns:a="http://schemas.openxmlformats.org/drawingml/2006/main">
            <a:r>
              <a:t>동작: 게시 강좌를 미리 볼 수 있으며 강좌 카드에 기존 로컬 복사본을 표시합니다.</a:t>
            </a:r>
          </a:p>
          <a:p xmlns:a="http://schemas.openxmlformats.org/drawingml/2006/main">
            <a:r>
              <a:t>검증 범위: 복사본 도입·업데이트에는 권한이 필요합니다. 이번 검토에서는 목록만 열었습니다.</a:t>
            </a:r>
          </a:p>
          <a:p xmlns:a="http://schemas.openxmlformats.org/drawingml/2006/main">
            <a:r>
              <a:t>이미지: supporting/02-screenshots/L07.png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</a:t>
            </a:r>
          </a:p>
          <a:p xmlns:a="http://schemas.openxmlformats.org/drawingml/2006/main">
            <a:r>
              <a:t>캡처: 2026-09-28T08:11:49.287Z</a:t>
            </a:r>
          </a:p>
          <a:p xmlns:a="http://schemas.openxmlformats.org/drawingml/2006/main">
            <a:r>
              <a:t>역할: 강사</a:t>
            </a:r>
          </a:p>
          <a:p xmlns:a="http://schemas.openxmlformats.org/drawingml/2006/main">
            <a:r>
              <a:t>요구사항: FR-ANALYTICS</a:t>
            </a:r>
          </a:p>
          <a:p xmlns:a="http://schemas.openxmlformats.org/drawingml/2006/main">
            <a:r>
              <a:t>동작: 반복 실패·비활성 등 측정 사유에 따라 배정 학생의 지도 우선순위를 표시합니다.</a:t>
            </a:r>
          </a:p>
          <a:p xmlns:a="http://schemas.openxmlformats.org/drawingml/2006/main">
            <a:r>
              <a:t>검증 범위: 제공된 학생 부분만 캡처했습니다. 준비도는 강의 시도 학생 최소 3명이 필요합니다.</a:t>
            </a:r>
          </a:p>
          <a:p xmlns:a="http://schemas.openxmlformats.org/drawingml/2006/main">
            <a:r>
              <a:t>이미지: supporting/02-screenshots/T01.png</a:t>
            </a:r>
          </a:p>
          <a:p xmlns:a="http://schemas.openxmlformats.org/drawingml/2006/main">
            <a:r>
              <a:t>자르기 좌표: 288, 82, 1400, 484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https://cs.coveedu.com/academy/dlab-mapo/teach/classes</a:t>
            </a:r>
          </a:p>
          <a:p xmlns:a="http://schemas.openxmlformats.org/drawingml/2006/main">
            <a:r>
              <a:t>캡처: 2026-09-28T08:12:09.177Z</a:t>
            </a:r>
          </a:p>
          <a:p xmlns:a="http://schemas.openxmlformats.org/drawingml/2006/main">
            <a:r>
              <a:t>역할: 강사</a:t>
            </a:r>
          </a:p>
          <a:p xmlns:a="http://schemas.openxmlformats.org/drawingml/2006/main">
            <a:r>
              <a:t>요구사항: FR-MONITOR</a:t>
            </a:r>
          </a:p>
          <a:p xmlns:a="http://schemas.openxmlformats.org/drawingml/2006/main">
            <a:r>
              <a:t>동작: 반 카드가 등록·온라인·풀이 중 인원을 구분하며 실시간 명단으로 연결합니다.</a:t>
            </a:r>
          </a:p>
          <a:p xmlns:a="http://schemas.openxmlformats.org/drawingml/2006/main">
            <a:r>
              <a:t>검증 범위: 두 반의 수강 좌석 5개는 개요의 고유 학생 3명에 해당합니다.</a:t>
            </a:r>
          </a:p>
          <a:p xmlns:a="http://schemas.openxmlformats.org/drawingml/2006/main">
            <a:r>
              <a:t>이미지: supporting/02-screenshots/T02.png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https://cs.coveedu.com/academy/dlab-mapo/teach/classes/c4f8fecf-26d9-4a62-9d59-ff2498d58f9d</a:t>
            </a:r>
          </a:p>
          <a:p xmlns:a="http://schemas.openxmlformats.org/drawingml/2006/main">
            <a:r>
              <a:t>캡처: 2026-09-28T08:12:40.494Z</a:t>
            </a:r>
          </a:p>
          <a:p xmlns:a="http://schemas.openxmlformats.org/drawingml/2006/main">
            <a:r>
              <a:t>역할: 강사</a:t>
            </a:r>
          </a:p>
          <a:p xmlns:a="http://schemas.openxmlformats.org/drawingml/2006/main">
            <a:r>
              <a:t>요구사항: FR-MONITOR</a:t>
            </a:r>
          </a:p>
          <a:p xmlns:a="http://schemas.openxmlformats.org/drawingml/2006/main">
            <a:r>
              <a:t>동작: 이름·활동 상태로 명단을 필터링합니다. 제공 학생은 오프라인이며 현재 문제에 참여하지 않습니다.</a:t>
            </a:r>
          </a:p>
          <a:p xmlns:a="http://schemas.openxmlformats.org/drawingml/2006/main">
            <a:r>
              <a:t>검증 범위: 실제 오프라인 상태입니다. 활성 관찰, 협업, 터미널 동기화는 미검증 상태입니다.</a:t>
            </a:r>
          </a:p>
          <a:p xmlns:a="http://schemas.openxmlformats.org/drawingml/2006/main">
            <a:r>
              <a:t>이미지: supporting/02-screenshots/T03.png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https://cs.coveedu.com/academy/dlab-mapo/teach/classes/c4f8fecf-26d9-4a62-9d59-ff2498d58f9d/progress?student=28ffc5b6-9438-4443-838c-41d570587fa5</a:t>
            </a:r>
          </a:p>
          <a:p xmlns:a="http://schemas.openxmlformats.org/drawingml/2006/main">
            <a:r>
              <a:t>캡처: 2026-09-28T08:13:04.229Z</a:t>
            </a:r>
          </a:p>
          <a:p xmlns:a="http://schemas.openxmlformats.org/drawingml/2006/main">
            <a:r>
              <a:t>역할: 강사</a:t>
            </a:r>
          </a:p>
          <a:p xmlns:a="http://schemas.openxmlformats.org/drawingml/2006/main">
            <a:r>
              <a:t>요구사항: FR-RESULT</a:t>
            </a:r>
          </a:p>
          <a:p xmlns:a="http://schemas.openxmlformats.org/drawingml/2006/main">
            <a:r>
              <a:t>동작: 선택 학생의 누적 필수 문제 진도, 시도, 정답 및 주의 문제를 표시합니다.</a:t>
            </a:r>
          </a:p>
          <a:p xmlns:a="http://schemas.openxmlformats.org/drawingml/2006/main">
            <a:r>
              <a:t>검증 범위: John의 상세만 캡처했습니다. 문제별·시도별 검토에는 별도 권한 조회를 사용합니다.</a:t>
            </a:r>
          </a:p>
          <a:p xmlns:a="http://schemas.openxmlformats.org/drawingml/2006/main">
            <a:r>
              <a:t>이미지: supporting/02-screenshots/T04.png</a:t>
            </a:r>
          </a:p>
          <a:p xmlns:a="http://schemas.openxmlformats.org/drawingml/2006/main">
            <a:r>
              <a:t>자르기 좌표: 288, 435, 1400, 722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https://cs.coveedu.com/academy/dlab-mapo/teach/analytics?search=John</a:t>
            </a:r>
          </a:p>
          <a:p xmlns:a="http://schemas.openxmlformats.org/drawingml/2006/main">
            <a:r>
              <a:t>캡처: 2026-09-28T08:13:44.016Z</a:t>
            </a:r>
          </a:p>
          <a:p xmlns:a="http://schemas.openxmlformats.org/drawingml/2006/main">
            <a:r>
              <a:t>역할: 강사</a:t>
            </a:r>
          </a:p>
          <a:p xmlns:a="http://schemas.openxmlformats.org/drawingml/2006/main">
            <a:r>
              <a:t>요구사항: FR-ANALYTICS</a:t>
            </a:r>
          </a:p>
          <a:p xmlns:a="http://schemas.openxmlformats.org/drawingml/2006/main">
            <a:r>
              <a:t>동작: 반·강좌·기간 필터로 지표 범위를 정하고 검색으로 제공 학생만 표시합니다.</a:t>
            </a:r>
          </a:p>
          <a:p xmlns:a="http://schemas.openxmlformats.org/drawingml/2006/main">
            <a:r>
              <a:t>검증 범위: 점수가 없으면 접근성 텍스트와 대시로 표시합니다. 실제 측정된 0점으로 해석하면 안 됩니다.</a:t>
            </a:r>
          </a:p>
          <a:p xmlns:a="http://schemas.openxmlformats.org/drawingml/2006/main">
            <a:r>
              <a:t>이미지: supporting/02-screenshots/T05.png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</a:t>
            </a:r>
          </a:p>
          <a:p xmlns:a="http://schemas.openxmlformats.org/drawingml/2006/main">
            <a:r>
              <a:t>캡처: 2026-09-28T08:14:17.221Z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FR-LEARN, FR-ANALYTICS</a:t>
            </a:r>
          </a:p>
          <a:p xmlns:a="http://schemas.openxmlformats.org/drawingml/2006/main">
            <a:r>
              <a:t>동작: 계속하기로 최근 작업을 재개합니다. 해결·시도 수, 평균 점수, 집계 학습 시간, 제출 정답률을 표시합니다.</a:t>
            </a:r>
          </a:p>
          <a:p xmlns:a="http://schemas.openxmlformats.org/drawingml/2006/main">
            <a:r>
              <a:t>검증 범위: 선택 기간과 본인에 대한 수치이며 학원 전체 통계가 아닙니다.</a:t>
            </a:r>
          </a:p>
          <a:p xmlns:a="http://schemas.openxmlformats.org/drawingml/2006/main">
            <a:r>
              <a:t>이미지: supporting/02-screenshots/S01.png</a:t>
            </a:r>
          </a:p>
          <a:p xmlns:a="http://schemas.openxmlformats.org/drawingml/2006/main">
            <a:r>
              <a:t>자르기 좌표: 288, 82, 1400, 647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https://cs.coveedu.com/academy/dlab-mapo/learn/exercises/a6433bfa-6faa-4310-98b2-52b53b5a7091</a:t>
            </a:r>
          </a:p>
          <a:p xmlns:a="http://schemas.openxmlformats.org/drawingml/2006/main">
            <a:r>
              <a:t>캡처: 2026-09-28T08:14:36.923Z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FR-CLASS</a:t>
            </a:r>
          </a:p>
          <a:p xmlns:a="http://schemas.openxmlformats.org/drawingml/2006/main">
            <a:r>
              <a:t>동작: 같은 강좌가 여러 등록 반에 있으면 학생이 세션·포인트에 사용할 반을 선택합니다.</a:t>
            </a:r>
          </a:p>
          <a:p xmlns:a="http://schemas.openxmlformats.org/drawingml/2006/main">
            <a:r>
              <a:t>검증 범위: 선택 classId가 문제 맥락에 포함됩니다. 이름이 비슷해도 서로 다른 반 기록입니다.</a:t>
            </a:r>
          </a:p>
          <a:p xmlns:a="http://schemas.openxmlformats.org/drawingml/2006/main">
            <a:r>
              <a:t>이미지: supporting/02-screenshots/S02.png</a:t>
            </a:r>
          </a:p>
          <a:p xmlns:a="http://schemas.openxmlformats.org/drawingml/2006/main">
            <a:r>
              <a:t>자르기 좌표: 430, 208, 1010, 515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https://cs.coveedu.com/academy/dlab-mapo/learn/exercises/a6433bfa-6faa-4310-98b2-52b53b5a7091?classId=c4f8fecf-26d9-4a62-9d59-ff2498d58f9d</a:t>
            </a:r>
          </a:p>
          <a:p xmlns:a="http://schemas.openxmlformats.org/drawingml/2006/main">
            <a:r>
              <a:t>캡처: 2026-09-28T08:15:20.943Z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FR-LEARN, FR-DRAFT, FR-GRADE</a:t>
            </a:r>
          </a:p>
          <a:p xmlns:a="http://schemas.openxmlformats.org/drawingml/2006/main">
            <a:r>
              <a:t>동작: 실제 작업 공간에 강좌 목차, 문제, 편집기와 터미널이 함께 있습니다. 저장 상태와 타이머도 표시합니다.</a:t>
            </a:r>
          </a:p>
          <a:p xmlns:a="http://schemas.openxmlformats.org/drawingml/2006/main">
            <a:r>
              <a:t>검증 범위: 실행과 제출은 별도 작업입니다. 런타임 준비 상태를 확인했지만 코드 실행·편집·제출은 하지 않았습니다.</a:t>
            </a:r>
          </a:p>
          <a:p xmlns:a="http://schemas.openxmlformats.org/drawingml/2006/main">
            <a:r>
              <a:t>이미지: supporting/02-screenshots/S03.png</a:t>
            </a:r>
          </a:p>
          <a:p xmlns:a="http://schemas.openxmlformats.org/drawingml/2006/main">
            <a:r>
              <a:t>자르기 좌표: 0, 0, 1440, 722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https://cs.coveedu.com/academy/dlab-mapo/learn/exercises/a6433bfa-6faa-4310-98b2-52b53b5a7091?classId=c4f8fecf-26d9-4a62-9d59-ff2498d58f9d</a:t>
            </a:r>
          </a:p>
          <a:p xmlns:a="http://schemas.openxmlformats.org/drawingml/2006/main">
            <a:r>
              <a:t>캡처: 2026-09-28T08:15:21.940Z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FR-RESULT</a:t>
            </a:r>
          </a:p>
          <a:p xmlns:a="http://schemas.openxmlformats.org/drawingml/2006/main">
            <a:r>
              <a:t>동작: 결과 탭은 현재 세션의 채점 결과를 보려면 먼저 제출해야 한다고 안내합니다.</a:t>
            </a:r>
          </a:p>
          <a:p xmlns:a="http://schemas.openxmlformats.org/drawingml/2006/main">
            <a:r>
              <a:t>검증 범위: 빈 결과 패널의 캡처입니다. 과거 정답 이력으로 새 결과를 만들지 않습니다.</a:t>
            </a:r>
          </a:p>
          <a:p xmlns:a="http://schemas.openxmlformats.org/drawingml/2006/main">
            <a:r>
              <a:t>이미지: supporting/02-screenshots/S04.png</a:t>
            </a:r>
          </a:p>
          <a:p xmlns:a="http://schemas.openxmlformats.org/drawingml/2006/main">
            <a:r>
              <a:t>자르기 좌표: 821, 451, 1440, 722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https://cs.coveedu.com/academy/dlab-mapo/learn/records</a:t>
            </a:r>
          </a:p>
          <a:p xmlns:a="http://schemas.openxmlformats.org/drawingml/2006/main">
            <a:r>
              <a:t>캡처: 2026-09-28T08:16:11.455Z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FR-RESULT</a:t>
            </a:r>
          </a:p>
          <a:p xmlns:a="http://schemas.openxmlformats.org/drawingml/2006/main">
            <a:r>
              <a:t>동작: 결과, 점수, 통과·전체 테스트 수, 풀이 시간, 제출 시각 및 계층 필터를 표시합니다.</a:t>
            </a:r>
          </a:p>
          <a:p xmlns:a="http://schemas.openxmlformats.org/drawingml/2006/main">
            <a:r>
              <a:t>검증 범위: 요약은 전체 이력을 집계합니다. 목록 행에는 비공개 테스트 데이터와 소스 코드가 없습니다.</a:t>
            </a:r>
          </a:p>
          <a:p xmlns:a="http://schemas.openxmlformats.org/drawingml/2006/main">
            <a:r>
              <a:t>이미지: supporting/02-screenshots/S05.png</a:t>
            </a:r>
          </a:p>
          <a:p xmlns:a="http://schemas.openxmlformats.org/drawingml/2006/main">
            <a:r>
              <a:t>자르기 좌표: 280, 75, 1405, 696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https://cs.coveedu.com/academy/dlab-mapo/points</a:t>
            </a:r>
          </a:p>
          <a:p xmlns:a="http://schemas.openxmlformats.org/drawingml/2006/main">
            <a:r>
              <a:t>캡처: 2026-09-28T08:16:35.852Z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FR-POINTS</a:t>
            </a:r>
          </a:p>
          <a:p xmlns:a="http://schemas.openxmlformats.org/drawingml/2006/main">
            <a:r>
              <a:t>동작: 선택 기간·반의 적립 포인트와 아래의 순위·적립 규칙을 확인합니다.</a:t>
            </a:r>
          </a:p>
          <a:p xmlns:a="http://schemas.openxmlformats.org/drawingml/2006/main">
            <a:r>
              <a:t>검증 범위: 과거에 문제를 풀었어도 포인트 0은 유효한 상태입니다. 지급 시점과 자격은 별도 검증이 필요합니다.</a:t>
            </a:r>
          </a:p>
          <a:p xmlns:a="http://schemas.openxmlformats.org/drawingml/2006/main">
            <a:r>
              <a:t>이미지: supporting/02-screenshots/S06.png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https://cs.coveedu.com/academy/dlab-mapo/learn/classes</a:t>
            </a:r>
          </a:p>
          <a:p xmlns:a="http://schemas.openxmlformats.org/drawingml/2006/main">
            <a:r>
              <a:t>캡처: 2026-09-28T08:17:04.750Z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FR-CLASS</a:t>
            </a:r>
          </a:p>
          <a:p xmlns:a="http://schemas.openxmlformats.org/drawingml/2006/main">
            <a:r>
              <a:t>동작: 등록 반 카드에 강좌 수와 담임을 표시합니다. 반을 열면 해당 커리큘럼 범위로 이동합니다.</a:t>
            </a:r>
          </a:p>
          <a:p xmlns:a="http://schemas.openxmlformats.org/drawingml/2006/main">
            <a:r>
              <a:t>검증 범위: 전역 사용자 계정을 추가 생성하지 않고 동일 강좌를 여러 반에 배정할 수 있습니다.</a:t>
            </a:r>
          </a:p>
          <a:p xmlns:a="http://schemas.openxmlformats.org/drawingml/2006/main">
            <a:r>
              <a:t>이미지: supporting/02-screenshots/S07.png</a:t>
            </a:r>
          </a:p>
          <a:p xmlns:a="http://schemas.openxmlformats.org/drawingml/2006/main">
            <a:r>
              <a:t>자르기 좌표: 280, 75, 1405, 710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https://cs.coveedu.com/academy/dlab-mapo/learn/courses</a:t>
            </a:r>
          </a:p>
          <a:p xmlns:a="http://schemas.openxmlformats.org/drawingml/2006/main">
            <a:r>
              <a:t>캡처: 2026-09-28T08:17:23.501Z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FR-LEARN, FR-DRAFT</a:t>
            </a:r>
          </a:p>
          <a:p xmlns:a="http://schemas.openxmlformats.org/drawingml/2006/main">
            <a:r>
              <a:t>동작: 계속 풀기에는 강좌 카드와 별도로 저장 초안이 나타납니다. 초안 폐기는 별도 작업입니다.</a:t>
            </a:r>
          </a:p>
          <a:p xmlns:a="http://schemas.openxmlformats.org/drawingml/2006/main">
            <a:r>
              <a:t>검증 범위: 아래에는 문제 0개인 공개 강좌가 준비 중으로 표시됩니다. 이런 강좌가 항상 제외된다고 가정하지 마십시오.</a:t>
            </a:r>
          </a:p>
          <a:p xmlns:a="http://schemas.openxmlformats.org/drawingml/2006/main">
            <a:r>
              <a:t>이미지: supporting/02-screenshots/S08.png</a:t>
            </a:r>
          </a:p>
          <a:p xmlns:a="http://schemas.openxmlformats.org/drawingml/2006/main">
            <a:r>
              <a:t>자르기 좌표: 280, 75, 1405, 580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https://cs.coveedu.com/academy/dlab-mapo/me</a:t>
            </a:r>
          </a:p>
          <a:p xmlns:a="http://schemas.openxmlformats.org/drawingml/2006/main">
            <a:r>
              <a:t>캡처: 2026-09-28T08:18:19.134Z</a:t>
            </a:r>
          </a:p>
          <a:p xmlns:a="http://schemas.openxmlformats.org/drawingml/2006/main">
            <a:r>
              <a:t>역할: 학생</a:t>
            </a:r>
          </a:p>
          <a:p xmlns:a="http://schemas.openxmlformats.org/drawingml/2006/main">
            <a:r>
              <a:t>요구사항: FR-PROFILE</a:t>
            </a:r>
          </a:p>
          <a:p xmlns:a="http://schemas.openxmlformats.org/drawingml/2006/main">
            <a:r>
              <a:t>동작: 전역 표시 이름과 선택 전화번호 옆에 고정 사용자 이름·플랫폼 역할을 표시합니다.</a:t>
            </a:r>
          </a:p>
          <a:p xmlns:a="http://schemas.openxmlformats.org/drawingml/2006/main">
            <a:r>
              <a:t>검증 범위: 로그인 이메일과 학원 프로필 상세는 잘라냈습니다. 계정 정보를 저장하지 않았습니다.</a:t>
            </a:r>
          </a:p>
          <a:p xmlns:a="http://schemas.openxmlformats.org/drawingml/2006/main">
            <a:r>
              <a:t>이미지: supporting/02-screenshots/S09.png</a:t>
            </a:r>
          </a:p>
          <a:p xmlns:a="http://schemas.openxmlformats.org/drawingml/2006/main">
            <a:r>
              <a:t>자르기 좌표: 482, 203, 1208, 608</a:t>
            </a:r>
          </a:p>
          <a:p xmlns:a="http://schemas.openxmlformats.org/drawingml/2006/main">
            <a:r>
              <a:t>소스 기준 b095b679. 운영 배포 버전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703f47f9343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211416e69a4e82" /><Relationship Type="http://schemas.openxmlformats.org/officeDocument/2006/relationships/slideLayout" Target="/ppt/slideLayouts/slideLayout1.xml" Id="Reee63fbe1f1546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e63fbe1f1546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bcfaa18e4870" /><Relationship Type="http://schemas.openxmlformats.org/officeDocument/2006/relationships/notesSlide" Target="/ppt/notesSlides/notesSlide1.xml" Id="R85d7892b1dc04f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144b0c02743f7" /><Relationship Type="http://schemas.openxmlformats.org/officeDocument/2006/relationships/image" Target="/ppt/media/image.png" Id="R3934f79058f4492a" /><Relationship Type="http://schemas.openxmlformats.org/officeDocument/2006/relationships/notesSlide" Target="/ppt/notesSlides/notesSlide2.xml" Id="R8240d57b079647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c212aec2e442e" /><Relationship Type="http://schemas.openxmlformats.org/officeDocument/2006/relationships/image" Target="/ppt/media/image2.png" Id="R7fdb0716005c463e" /><Relationship Type="http://schemas.openxmlformats.org/officeDocument/2006/relationships/notesSlide" Target="/ppt/notesSlides/notesSlide3.xml" Id="Rd9785b0d92764e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8ab08663b42d3" /><Relationship Type="http://schemas.openxmlformats.org/officeDocument/2006/relationships/image" Target="/ppt/media/image3.png" Id="Rb21e17509a594fe1" /><Relationship Type="http://schemas.openxmlformats.org/officeDocument/2006/relationships/notesSlide" Target="/ppt/notesSlides/notesSlide4.xml" Id="Rca53d98d9f5e49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f3484c12f4311" /><Relationship Type="http://schemas.openxmlformats.org/officeDocument/2006/relationships/image" Target="/ppt/media/image4.png" Id="Rc740fe5d37cd4e0d" /><Relationship Type="http://schemas.openxmlformats.org/officeDocument/2006/relationships/notesSlide" Target="/ppt/notesSlides/notesSlide5.xml" Id="R47ea9c9c69ed42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51815e4ae4ad0" /><Relationship Type="http://schemas.openxmlformats.org/officeDocument/2006/relationships/image" Target="/ppt/media/image5.png" Id="R71f080ee105149ab" /><Relationship Type="http://schemas.openxmlformats.org/officeDocument/2006/relationships/notesSlide" Target="/ppt/notesSlides/notesSlide6.xml" Id="R0194445863d74b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c5e372f634083" /><Relationship Type="http://schemas.openxmlformats.org/officeDocument/2006/relationships/image" Target="/ppt/media/image6.png" Id="R276a93a8fd0a4e0f" /><Relationship Type="http://schemas.openxmlformats.org/officeDocument/2006/relationships/notesSlide" Target="/ppt/notesSlides/notesSlide7.xml" Id="R45e974f01df341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f8c42dc0a4ffe" /><Relationship Type="http://schemas.openxmlformats.org/officeDocument/2006/relationships/image" Target="/ppt/media/image7.png" Id="R4e21281bd9554876" /><Relationship Type="http://schemas.openxmlformats.org/officeDocument/2006/relationships/notesSlide" Target="/ppt/notesSlides/notesSlide8.xml" Id="R5333d89b2afb4b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b53955e574742" /><Relationship Type="http://schemas.openxmlformats.org/officeDocument/2006/relationships/image" Target="/ppt/media/image8.png" Id="R6cf75a00e6404c95" /><Relationship Type="http://schemas.openxmlformats.org/officeDocument/2006/relationships/notesSlide" Target="/ppt/notesSlides/notesSlide9.xml" Id="Rea1231dd269341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745514bd8413a" /><Relationship Type="http://schemas.openxmlformats.org/officeDocument/2006/relationships/image" Target="/ppt/media/image9.png" Id="R0e444043745c4d06" /><Relationship Type="http://schemas.openxmlformats.org/officeDocument/2006/relationships/notesSlide" Target="/ppt/notesSlides/notesSlide10.xml" Id="Re62dbcf216ff46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ef422e5d743d6" /><Relationship Type="http://schemas.openxmlformats.org/officeDocument/2006/relationships/image" Target="/ppt/media/image10.png" Id="R282fc2c99f1141f9" /><Relationship Type="http://schemas.openxmlformats.org/officeDocument/2006/relationships/notesSlide" Target="/ppt/notesSlides/notesSlide11.xml" Id="Rf4aac9f5ecf64b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004ee3bc8472d" /><Relationship Type="http://schemas.openxmlformats.org/officeDocument/2006/relationships/image" Target="/ppt/media/image11.png" Id="Rd47f4d8b8476432c" /><Relationship Type="http://schemas.openxmlformats.org/officeDocument/2006/relationships/notesSlide" Target="/ppt/notesSlides/notesSlide12.xml" Id="Rc3c8b63601224f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4b6b9c1cc49e0" /><Relationship Type="http://schemas.openxmlformats.org/officeDocument/2006/relationships/image" Target="/ppt/media/image12.png" Id="R52cdfd0102f84d70" /><Relationship Type="http://schemas.openxmlformats.org/officeDocument/2006/relationships/notesSlide" Target="/ppt/notesSlides/notesSlide13.xml" Id="Rbd79341e000340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564e590864c27" /><Relationship Type="http://schemas.openxmlformats.org/officeDocument/2006/relationships/image" Target="/ppt/media/image13.png" Id="Rb130b1f5b2df4d96" /><Relationship Type="http://schemas.openxmlformats.org/officeDocument/2006/relationships/notesSlide" Target="/ppt/notesSlides/notesSlide14.xml" Id="Rbfe748f8e3674f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aea866400485f" /><Relationship Type="http://schemas.openxmlformats.org/officeDocument/2006/relationships/image" Target="/ppt/media/image14.png" Id="R47821b2af4574620" /><Relationship Type="http://schemas.openxmlformats.org/officeDocument/2006/relationships/notesSlide" Target="/ppt/notesSlides/notesSlide15.xml" Id="Raf085daeba264a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a1ec91e084163" /><Relationship Type="http://schemas.openxmlformats.org/officeDocument/2006/relationships/image" Target="/ppt/media/image15.png" Id="R44d96ee3682b406b" /><Relationship Type="http://schemas.openxmlformats.org/officeDocument/2006/relationships/notesSlide" Target="/ppt/notesSlides/notesSlide16.xml" Id="R91fe39bff7b947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c5fda4ab847ef" /><Relationship Type="http://schemas.openxmlformats.org/officeDocument/2006/relationships/image" Target="/ppt/media/image16.png" Id="Re6808920bba34298" /><Relationship Type="http://schemas.openxmlformats.org/officeDocument/2006/relationships/notesSlide" Target="/ppt/notesSlides/notesSlide17.xml" Id="R9b5a86221f374a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fc579af9740e4" /><Relationship Type="http://schemas.openxmlformats.org/officeDocument/2006/relationships/image" Target="/ppt/media/image17.png" Id="Rb5c4652f9c134def" /><Relationship Type="http://schemas.openxmlformats.org/officeDocument/2006/relationships/notesSlide" Target="/ppt/notesSlides/notesSlide18.xml" Id="Rafa7cf0b580a42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e8e788568403f" /><Relationship Type="http://schemas.openxmlformats.org/officeDocument/2006/relationships/image" Target="/ppt/media/image18.png" Id="R7029543d91e24efa" /><Relationship Type="http://schemas.openxmlformats.org/officeDocument/2006/relationships/notesSlide" Target="/ppt/notesSlides/notesSlide19.xml" Id="R76a87b67db0d45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30c5a77f84277" /><Relationship Type="http://schemas.openxmlformats.org/officeDocument/2006/relationships/image" Target="/ppt/media/image19.png" Id="Rc0c590c17dcd4013" /><Relationship Type="http://schemas.openxmlformats.org/officeDocument/2006/relationships/notesSlide" Target="/ppt/notesSlides/notesSlide20.xml" Id="Rdd7c1d9e7adb45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569c799d2464f" /><Relationship Type="http://schemas.openxmlformats.org/officeDocument/2006/relationships/image" Target="/ppt/media/image20.png" Id="R8c03f05c5df44e42" /><Relationship Type="http://schemas.openxmlformats.org/officeDocument/2006/relationships/notesSlide" Target="/ppt/notesSlides/notesSlide21.xml" Id="Rd7436ee1591546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abe0587ba4e00" /><Relationship Type="http://schemas.openxmlformats.org/officeDocument/2006/relationships/image" Target="/ppt/media/image21.png" Id="Re6454d9ae5e64bd2" /><Relationship Type="http://schemas.openxmlformats.org/officeDocument/2006/relationships/notesSlide" Target="/ppt/notesSlides/notesSlide22.xml" Id="Rc8761532bf7740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2f7241f894ee4" /><Relationship Type="http://schemas.openxmlformats.org/officeDocument/2006/relationships/image" Target="/ppt/media/image22.png" Id="R9118530848de4e39" /><Relationship Type="http://schemas.openxmlformats.org/officeDocument/2006/relationships/notesSlide" Target="/ppt/notesSlides/notesSlide23.xml" Id="Rcd1a2c0c26664b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299886d9f4b8a" /><Relationship Type="http://schemas.openxmlformats.org/officeDocument/2006/relationships/image" Target="/ppt/media/image23.png" Id="Reb910364bfe748be" /><Relationship Type="http://schemas.openxmlformats.org/officeDocument/2006/relationships/notesSlide" Target="/ppt/notesSlides/notesSlide24.xml" Id="R5fe9aab69de94d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2fb3d25224967" /><Relationship Type="http://schemas.openxmlformats.org/officeDocument/2006/relationships/image" Target="/ppt/media/image24.png" Id="R20a32e42354b4272" /><Relationship Type="http://schemas.openxmlformats.org/officeDocument/2006/relationships/notesSlide" Target="/ppt/notesSlides/notesSlide25.xml" Id="Re6162c3be691404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7940931634c96" /><Relationship Type="http://schemas.openxmlformats.org/officeDocument/2006/relationships/image" Target="/ppt/media/image25.png" Id="R6ff0c617172148fb" /><Relationship Type="http://schemas.openxmlformats.org/officeDocument/2006/relationships/notesSlide" Target="/ppt/notesSlides/notesSlide26.xml" Id="R86e988e92a9f447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246b048554ab5" /><Relationship Type="http://schemas.openxmlformats.org/officeDocument/2006/relationships/image" Target="/ppt/media/image26.png" Id="Rf3fcdef7ddbd43fb" /><Relationship Type="http://schemas.openxmlformats.org/officeDocument/2006/relationships/notesSlide" Target="/ppt/notesSlides/notesSlide27.xml" Id="R3a7a553b82c346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183b0ae8547cf" /><Relationship Type="http://schemas.openxmlformats.org/officeDocument/2006/relationships/image" Target="/ppt/media/image27.png" Id="Re0cfb72ed1534945" /><Relationship Type="http://schemas.openxmlformats.org/officeDocument/2006/relationships/notesSlide" Target="/ppt/notesSlides/notesSlide28.xml" Id="Rae862fc8f32b4a5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541c5241e4c8b" /><Relationship Type="http://schemas.openxmlformats.org/officeDocument/2006/relationships/image" Target="/ppt/media/image28.png" Id="Ra857ff2c3c7a4cc5" /><Relationship Type="http://schemas.openxmlformats.org/officeDocument/2006/relationships/notesSlide" Target="/ppt/notesSlides/notesSlide29.xml" Id="R4ee06dfb94d4400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ebc685b3a413a" /><Relationship Type="http://schemas.openxmlformats.org/officeDocument/2006/relationships/image" Target="/ppt/media/image29.png" Id="Rf550ac2ed642416c" /><Relationship Type="http://schemas.openxmlformats.org/officeDocument/2006/relationships/notesSlide" Target="/ppt/notesSlides/notesSlide30.xml" Id="R0a7a0aa909174f6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eae79428f4b03" /><Relationship Type="http://schemas.openxmlformats.org/officeDocument/2006/relationships/image" Target="/ppt/media/image30.png" Id="R86391759512042b0" /><Relationship Type="http://schemas.openxmlformats.org/officeDocument/2006/relationships/notesSlide" Target="/ppt/notesSlides/notesSlide31.xml" Id="Rbaaa073be89b427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e6ac881e840e6" /><Relationship Type="http://schemas.openxmlformats.org/officeDocument/2006/relationships/image" Target="/ppt/media/image31.png" Id="Raa0b8352f3f64bd1" /><Relationship Type="http://schemas.openxmlformats.org/officeDocument/2006/relationships/notesSlide" Target="/ppt/notesSlides/notesSlide32.xml" Id="R8d452806b5e94e6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79dc3775f44fd" /><Relationship Type="http://schemas.openxmlformats.org/officeDocument/2006/relationships/image" Target="/ppt/media/image32.png" Id="R9bc3bae5d1ee4baf" /><Relationship Type="http://schemas.openxmlformats.org/officeDocument/2006/relationships/notesSlide" Target="/ppt/notesSlides/notesSlide33.xml" Id="R0fd63d4519b449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36cd46e954312" /><Relationship Type="http://schemas.openxmlformats.org/officeDocument/2006/relationships/image" Target="/ppt/media/image33.png" Id="R85188c5fee4d4594" /><Relationship Type="http://schemas.openxmlformats.org/officeDocument/2006/relationships/notesSlide" Target="/ppt/notesSlides/notesSlide34.xml" Id="R13da6648d889402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07680d29142dd" /><Relationship Type="http://schemas.openxmlformats.org/officeDocument/2006/relationships/image" Target="/ppt/media/image34.png" Id="Rca50b42dabf647a8" /><Relationship Type="http://schemas.openxmlformats.org/officeDocument/2006/relationships/notesSlide" Target="/ppt/notesSlides/notesSlide35.xml" Id="Rb605cc761ecf4f0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686adf315448b" /><Relationship Type="http://schemas.openxmlformats.org/officeDocument/2006/relationships/image" Target="/ppt/media/image35.png" Id="R85d1cd4eedd74844" /><Relationship Type="http://schemas.openxmlformats.org/officeDocument/2006/relationships/notesSlide" Target="/ppt/notesSlides/notesSlide36.xml" Id="R6baf404bc9c64b8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90da138f245f1" /><Relationship Type="http://schemas.openxmlformats.org/officeDocument/2006/relationships/image" Target="/ppt/media/image36.png" Id="R1ddebfa7c755429e" /><Relationship Type="http://schemas.openxmlformats.org/officeDocument/2006/relationships/notesSlide" Target="/ppt/notesSlides/notesSlide37.xml" Id="Rc7457c17669d488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8a4d953d547af" /><Relationship Type="http://schemas.openxmlformats.org/officeDocument/2006/relationships/image" Target="/ppt/media/image37.png" Id="R72e56fbd32f7454b" /><Relationship Type="http://schemas.openxmlformats.org/officeDocument/2006/relationships/notesSlide" Target="/ppt/notesSlides/notesSlide38.xml" Id="R48b1c77a224544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9f8b1263643a9" /><Relationship Type="http://schemas.openxmlformats.org/officeDocument/2006/relationships/image" Target="/ppt/media/image38.png" Id="R8966bda4c7824743" /><Relationship Type="http://schemas.openxmlformats.org/officeDocument/2006/relationships/notesSlide" Target="/ppt/notesSlides/notesSlide39.xml" Id="R80e1c91bb0514c4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c62bcef8b4582" /><Relationship Type="http://schemas.openxmlformats.org/officeDocument/2006/relationships/image" Target="/ppt/media/image39.png" Id="Rf4d63011b2bc4a8a" /><Relationship Type="http://schemas.openxmlformats.org/officeDocument/2006/relationships/notesSlide" Target="/ppt/notesSlides/notesSlide40.xml" Id="R3ce06889ee154db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179eb72d7489d" /><Relationship Type="http://schemas.openxmlformats.org/officeDocument/2006/relationships/image" Target="/ppt/media/image40.png" Id="Rc3219cd937104c90" /><Relationship Type="http://schemas.openxmlformats.org/officeDocument/2006/relationships/notesSlide" Target="/ppt/notesSlides/notesSlide41.xml" Id="R470dff47cd5c4fc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e9d03efe248e3" /><Relationship Type="http://schemas.openxmlformats.org/officeDocument/2006/relationships/image" Target="/ppt/media/image41.png" Id="R615fd0d529d045af" /><Relationship Type="http://schemas.openxmlformats.org/officeDocument/2006/relationships/notesSlide" Target="/ppt/notesSlides/notesSlide42.xml" Id="Rb26272b27470430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537ee8b56442b" /><Relationship Type="http://schemas.openxmlformats.org/officeDocument/2006/relationships/image" Target="/ppt/media/image42.png" Id="R78ae0d5dae1c433b" /><Relationship Type="http://schemas.openxmlformats.org/officeDocument/2006/relationships/notesSlide" Target="/ppt/notesSlides/notesSlide43.xml" Id="Rb64ac536534f4d8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cee1fc48e4e78" /><Relationship Type="http://schemas.openxmlformats.org/officeDocument/2006/relationships/image" Target="/ppt/media/image43.png" Id="Ra4f3364b6a574f2f" /><Relationship Type="http://schemas.openxmlformats.org/officeDocument/2006/relationships/notesSlide" Target="/ppt/notesSlides/notesSlide44.xml" Id="Rb94aa4adc57a405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17f30b0d94820" /><Relationship Type="http://schemas.openxmlformats.org/officeDocument/2006/relationships/image" Target="/ppt/media/image44.png" Id="R64b771f0ab1f485e" /><Relationship Type="http://schemas.openxmlformats.org/officeDocument/2006/relationships/notesSlide" Target="/ppt/notesSlides/notesSlide45.xml" Id="R1d8fa7d5063348a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3079b47f4edd" /><Relationship Type="http://schemas.openxmlformats.org/officeDocument/2006/relationships/image" Target="/ppt/media/image45.png" Id="R0843a030bb224ed7" /><Relationship Type="http://schemas.openxmlformats.org/officeDocument/2006/relationships/notesSlide" Target="/ppt/notesSlides/notesSlide46.xml" Id="R69af727ff34c477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559cbd2ef4034" /><Relationship Type="http://schemas.openxmlformats.org/officeDocument/2006/relationships/image" Target="/ppt/media/image46.png" Id="R1130a067bdb141bc" /><Relationship Type="http://schemas.openxmlformats.org/officeDocument/2006/relationships/notesSlide" Target="/ppt/notesSlides/notesSlide47.xml" Id="R9e1fa60efc04403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34c49d1ef4cf8" /><Relationship Type="http://schemas.openxmlformats.org/officeDocument/2006/relationships/image" Target="/ppt/media/image47.png" Id="R1735468bad18480b" /><Relationship Type="http://schemas.openxmlformats.org/officeDocument/2006/relationships/notesSlide" Target="/ppt/notesSlides/notesSlide48.xml" Id="R4c29a7c2b5a24d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CB331-367D-4C3E-8E95-B078CAFF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333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Cove Studio v2</a:t>
            </a:r>
          </a:p>
          <a:p xmlns:a="http://schemas.openxmlformats.org/drawingml/2006/main">
            <a:pPr>
              <a:buNone/>
              <a:defRPr sz="48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화면 명세서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A9AF0-D828-46ED-8731-8AB0E8A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238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실제 플랫폼 화면 및 폼 47개</a:t>
            </a:r>
          </a:p>
          <a:p xmlns:a="http://schemas.openxmlformats.org/drawingml/2006/main">
            <a:pPr>
              <a:buNone/>
              <a:defRPr sz="225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플랫폼 관리자 · 학원 관리자 · 팀장 · 강사 · 학생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483BD-5C7C-42CA-9C30-BB3E4D21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238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담당 John  |  운영 검토 2026년 9월 28일</a:t>
            </a:r>
          </a:p>
          <a:p xmlns:a="http://schemas.openxmlformats.org/drawingml/2006/main">
            <a:pPr>
              <a:buNone/>
              <a:defRPr sz="18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소스 기준 b095b679 · 운영 배포 버전 미확인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45A55-0157-4102-9B5C-EB7528FF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238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실제 화면을 잘라 사용했습니다. 동작 및 검증 설명은 편집할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32580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B8A01-87E9-4544-8EF4-49A10069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U01  ID 로그인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2349B-E215-4E87-BD13-64F141C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모든 역할  |  FR-AUTH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4f79058f4492a"/>
          <a:stretch xmlns:a="http://schemas.openxmlformats.org/drawingml/2006/main"/>
        </p:blipFill>
        <p:spPr>
          <a:xfrm xmlns:a="http://schemas.openxmlformats.org/drawingml/2006/main">
            <a:off x="3283380" y="1552575"/>
            <a:ext cx="4806090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F54FA-E778-4DDC-8160-2E7291E4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7BE5C-113D-4BDF-9B14-7B6925B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보안 확인 후 ID와 비밀번호로 로그인합니다. Google·Naver 로그인도 제공합니다.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A89B9-E73E-462C-BD97-2EB54D3A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5998C-8D27-4CD5-98ED-E12E0A28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정상 로그인을 관찰했습니다. 외부 인증 완료와 로그인 실패는 스테이징 테스트가 필요합니다.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F3184-288F-421E-A6B0-C3F92413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U01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591576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B443C-2AA1-41EB-B9BE-52A07B6D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U02  학생 가입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F0C11-2B70-422A-81D7-BCE8543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비로그인 사용자  |  FR-AUTH, FR-JOIN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b0716005c463e"/>
          <a:stretch xmlns:a="http://schemas.openxmlformats.org/drawingml/2006/main"/>
        </p:blipFill>
        <p:spPr>
          <a:xfrm xmlns:a="http://schemas.openxmlformats.org/drawingml/2006/main">
            <a:off x="3115560" y="1552575"/>
            <a:ext cx="5141731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19CE4-F9E1-41AC-9079-1831E31B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08CAC-0CDA-4EA9-818A-15F61FB4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학원과 계정 유형을 선택합니다. 학생은 이메일 없이 이름, ID, 비밀번호와 확인 값을 입력합니다.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609BD-954C-4544-BB64-B1AF8980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55F88-97E6-488F-9750-4C6D67C5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ID는 허용 문자 5~30자, 비밀번호는 최소 8자입니다. 계정 유형 선택만으로 학원 역할이 부여되지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1DB56-AF10-4D2E-9378-4035914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U02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991678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35C0-90D4-4606-A9F5-B8459A0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U03  직원 가입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B9E03-1FD8-4030-B07D-EE9FB1FE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비로그인 사용자  |  FR-AUTH, FR-JOIN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e17509a594fe1"/>
          <a:stretch xmlns:a="http://schemas.openxmlformats.org/drawingml/2006/main"/>
        </p:blipFill>
        <p:spPr>
          <a:xfrm xmlns:a="http://schemas.openxmlformats.org/drawingml/2006/main">
            <a:off x="3115560" y="1552575"/>
            <a:ext cx="5141731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4DA25-0A98-4B5F-87AC-E4F17136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6B399-58A6-491B-AC08-F153207A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직원 선택 시 이메일 입력란이 추가됩니다. 학원 승인 또는 초대가 최종 역할을 결정합니다.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58127-E4CD-400E-9877-0B4BB92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11319-7255-49B7-ADE2-D546773F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폼 상단을 캡처했습니다. 비밀번호, 보안 확인 및 제출 제어는 아래에 이어집니다.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22D37-6988-4534-801F-4A3E63E6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U03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137838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84529-6161-471E-8D4D-517E625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U04  비밀번호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389AF-9244-4084-807A-9FAF74D3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비로그인 사용자  |  FR-AUTH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0fe5d37cd4e0d"/>
          <a:stretch xmlns:a="http://schemas.openxmlformats.org/drawingml/2006/main"/>
        </p:blipFill>
        <p:spPr>
          <a:xfrm xmlns:a="http://schemas.openxmlformats.org/drawingml/2006/main">
            <a:off x="3020489" y="1552575"/>
            <a:ext cx="5331872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D18AA-4716-4496-B871-94CBA3D2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17DE-384A-447D-B7AE-00B8863F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첫 단계에서 로그인 ID를 입력합니다. 이메일 링크를 통한 새 비밀번호 설정을 안내합니다.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03CB6-BD70-40C6-882D-1D4FE12C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0F06E-FEF8-449F-B2CB-B911FF11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캡처 당시 보안 확인 대기 상태입니다. 복구 메시지를 요청하지 않았습니다.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EAF90-E28B-47C6-9546-DFC99EB0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U04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832609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541F9-8FBD-4741-8CF8-390E9B6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A01  학원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268AA-7B47-4810-895E-E71DFE0C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FR-ADMIN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080ee105149ab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5E961-AA9E-4552-B03C-A947860F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FD60B-B723-4F21-80A5-A505D557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학원명·주소 검색과 상태 필터로 학원 상세를 엽니다. 조치 필요 영역은 운영 누락을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0E80F-3A41-4E40-AD5A-02C616DF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6E21C-6B8C-41DC-8415-FA64DA48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검토 시 목록에는 학원 3개가 있었습니다. 화면 수치는 관찰값이며 고정 요구사항이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F934B-7D55-4222-A0A7-1091C8F6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A01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374747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78A43-8C6D-4CF8-A272-ADD37595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A02  학원 상세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0539D-0ACB-4795-90AB-85F3559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FR-ADMIN, FR-ANALYTICS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a93a8fd0a4e0f"/>
          <a:stretch xmlns:a="http://schemas.openxmlformats.org/drawingml/2006/main"/>
        </p:blipFill>
        <p:spPr>
          <a:xfrm xmlns:a="http://schemas.openxmlformats.org/drawingml/2006/main">
            <a:off x="505863" y="1552575"/>
            <a:ext cx="10361123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3D327-9678-4BCC-ACF1-C320564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8E70F-702D-410A-9367-3399DBBC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구성원, 반, 강좌 수와 커리큘럼 준비 상태 경고를 함께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31802-1883-4905-B918-E7045A6A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24C4D-D346-4CD4-AF50-960101B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강사 미배정 11건 경고가 학원 관리자 화면의 배정과 다릅니다. REV-01을 참조하십시오.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96528-DF6D-48CD-857E-4BCE3890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A02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407641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96FEC-D2DB-427B-A49D-E3023362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A03  플랫폼 기능 제어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BD603-B3A8-4976-A0BC-77E5375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FR-ADMIN, FR-UX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1281bd9554876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F3DE0-2579-4389-85DA-AC74A5DC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29F99-C14D-4E68-A1F3-E385A60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학원별로 실시간 모니터링, 반 현황, 포인트 및 반 순위를 독립 설정합니다.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0268A-D47D-4F7B-864F-91AB6547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74938-DC76-438F-BA59-C1E73B17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활성화된 설정을 캡처했습니다. 이번 검토에서 스위치를 변경하지 않았습니다.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75763-9480-4E8B-86DF-C7CC65D9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A03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860054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73F57-DA71-4BFE-BD88-445DF279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A04  포인트 정책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302AB-43A2-4BAA-80BE-733D4022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FR-POINTS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75a00e6404c95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45FB9-A4FE-45F2-BD0E-9902CA91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2A40F-6104-48A8-ABD2-A92D2713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학원별 기본·사용자 지정 보상과 일일 한도를 비교합니다.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543F2-6FC2-4290-AD3D-E98AA25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DA3F1-8A3B-4C9A-B29B-74CE597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Dlab-Mapo의 어려운 문제 보상은 15P입니다. 소스 기본값은 10P입니다.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992B8-1D95-4E9D-A7E4-9D45947B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A04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067412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6EAA9-1C58-46A3-A08C-7114CF31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A05  포인트 정책 편집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26CE4-422C-4480-AAFC-F5D9DAB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FR-POINTS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44043745c4d06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B266A-2F36-4DD6-8E5F-E54513C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E5019-649B-47FA-88E9-874EA9BF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풀이·완료 보상은 별도 필드입니다. 저장, 취소, 기본값 복원은 서로 다른 작업입니다.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EE160-E53B-47FB-9C36-9DABCA6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4A893-06A8-41B8-926C-32EC6F8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폼 상단입니다. 출석, 학습 구간, 일일 한도 및 학생 미리보기는 아래에 이어집니다.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B8BC2-F9F5-43A9-AC2D-C6A3BEC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A05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932563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ED7CF-3D20-4C04-B807-6C4351CD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A06  재채점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7B900-B3C4-4035-9E53-DDA40BB0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FR-OPS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fc2c99f1141f9"/>
          <a:stretch xmlns:a="http://schemas.openxmlformats.org/drawingml/2006/main"/>
        </p:blipFill>
        <p:spPr>
          <a:xfrm xmlns:a="http://schemas.openxmlformats.org/drawingml/2006/main">
            <a:off x="529129" y="1552575"/>
            <a:ext cx="10314591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1B6F3-0F84-4334-8471-C94DFF12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91A83-C70B-4420-8C95-544B8A07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 선택 후 문제를 선택하고 재채점을 계획합니다. 현재 진도와 최초 시도 이력을 구분합니다.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300B1-2DF8-4605-9DEF-329C8A20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6E4F0-E9B7-4451-9C13-AD2669C8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재채점을 계획하거나 실행하지 않았습니다. 대기·실패·완료 상태는 통제된 테스트가 필요합니다.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01441-5104-4AF3-9DFA-AF7CDDC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A06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1339253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BC59B-0A18-4945-85D2-57F6B4EB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A07  지원 접근 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9BBC-44B4-429E-9B68-DD75D95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FR-SUPPORT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f4d8b8476432c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98011-E590-4622-8019-38094B60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224BC-D2AF-45A7-8780-9A5E6A11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열린 지원 세션과 과거 권한의 학원, 사유, 역할 및 제한을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261AD-EF72-40FF-8433-A50C460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020E0-5C5D-46EF-9834-26F29A0E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철회된 세션 2개를 확인했습니다. 새 지원 권한은 생성하지 않았습니다.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5179E-ACAC-4ADD-9CCC-3B8C5B23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A07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0923565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E9ED4-8EE9-4DB7-AF6A-5EF70A1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A08  감사 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4E4EE-82D0-4112-A25D-E3DAB5A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FR-SUPPORT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dfd0102f84d70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25F0F-E922-46EC-B958-83238864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984B1-FBF1-495A-AAA5-D8F2D1CC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날짜별로 최신 이벤트부터 행위자, 학원 및 시각을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D2374-CB0F-447B-9273-8706C35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1548A-8ADA-459F-A5AD-1E93E98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이벤트 표시 방식의 실제 캡처입니다. 모든 감사 대상 작업을 검증한 것은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D0642-33F1-4AA2-B97F-928B737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A08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30876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4892E-6B8F-4B1D-9458-FCE32F4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A09  플랫폼 원본 라이브러리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0FFDE-3EFD-4671-A7F3-F47B918C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FR-LIBRARY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0b1f5b2df4d96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E9D99-F74E-4EFC-AF8D-A1AA486A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3357F-550C-4F2B-9AEA-D7CE1621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게시 원본 강좌의 계층 수, 도입 범위 및 원본보다 뒤처진 복사본을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58FDA-7DE9-4091-9242-A13B3897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DBAED-331A-4D07-BC0F-9903A7FC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경고 배지는 채점 불가 콘텐츠를 나타냅니다. 게시·배포는 실행하지 않았습니다.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BC64B-7686-4400-96FC-983540CC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A09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6834852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44EEE-17C4-48AA-98A0-EE4409E7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A10  원본 강좌 생성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677F0-C33E-4ED9-8706-DD11856B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  |  FR-LIBRARY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21b2af4574620"/>
          <a:stretch xmlns:a="http://schemas.openxmlformats.org/drawingml/2006/main"/>
        </p:blipFill>
        <p:spPr>
          <a:xfrm xmlns:a="http://schemas.openxmlformats.org/drawingml/2006/main">
            <a:off x="2671159" y="1552575"/>
            <a:ext cx="6030532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77ADF-96AF-40AD-8C71-970A8042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1430C-BF0C-44CA-BFF1-EE14D37B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필수 강좌 제목과 학원에 제공할 내용의 선택 설명을 입력합니다.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E5036-D7D6-4319-A468-3BCD69E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AFAC1-AD28-429E-A713-A00F9FBB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새 원본은 초안 상태입니다. 빈 폼에서는 생성 후 열기가 비활성화됩니다.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461BB-1310-4E27-AAA5-14EE717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A10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0784154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1AF40-E3B1-4EF0-BC8D-0033CDCC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A11  플랫폼 사용자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2FE13-6805-4011-9EFA-797C00A3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</a:t>
            </a: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  |  FR-ADMIN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96ee3682b406b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6984B-C4C4-479F-86E0-42F81A81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0610A-A190-473C-91E0-0D51624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학원, 역할, 계정·멤버십 상태로 검색·필터링합니다. 내보내기와 계정 작업은 별도 제어입니다.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9625D-C22C-4C6C-9136-82BDBE09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F5F4A-B53E-4202-8FA5-9B7226FA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제공된 관리자 계정으로 필터링한 목록을 캡처했습니다.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7F461-1DAF-4C66-8FD0-FEE96714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A11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749779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90C15-3312-45A8-A066-0DFE5E46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A12  가입 신청 대기열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D88AA-79D9-474F-B486-0882408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</a:t>
            </a: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  |  FR-JOIN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08920bba34298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96FF9-09D6-47C1-A421-3F8FCB83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690F5-AE37-45DA-B185-A08329A5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학원·상태·조치 필요 필터와 대기 요약을 제공합니다.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3CD7E-4AFC-49D6-A686-F3E1FB88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29CE7-A5EA-49A8-B627-8D36494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운영 대기열은 비어 있습니다. 승인·거절·오래된 검토 규칙은 소스와 미실행 QA를 참조합니다.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0028A-95E0-4B18-A536-C1C4195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A12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3670943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FEED3-A5F7-4ACA-8408-BB875421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A13  초대 전달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D428E-8A1C-496A-82A9-B4A47181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</a:t>
            </a: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  |  FR-JOIN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4652f9c134def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0DB96-7D89-4CFD-A495-728FBFD3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5054A-1F43-426F-989E-CD2D3500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전체 초대, 대기 초대 및 전달 실패 요약을 표와 별도로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99039-EE27-4F7D-9F8E-65D9A8E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638B6-3117-4CF2-9E05-0504D92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요약은 7건이나 표는 비어 있습니다. 일치 확인 완료가 아닌 검토 항목으로 기록합니다.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DDA1F-D253-4262-AFD6-CDC16587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A13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0123095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0BD63-BF4D-47BE-8169-B2639966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A14  초대 입력 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0A653-9FE3-4497-B4B6-EFBE535E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플랫폼 관리자</a:t>
            </a: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  |  FR-JOIN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9543d91e24efa"/>
          <a:stretch xmlns:a="http://schemas.openxmlformats.org/drawingml/2006/main"/>
        </p:blipFill>
        <p:spPr>
          <a:xfrm xmlns:a="http://schemas.openxmlformats.org/drawingml/2006/main">
            <a:off x="2606124" y="1552575"/>
            <a:ext cx="6160602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22E59-95F5-4170-B416-B7FB0965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D4901-0CE7-4E4A-87F0-C592A75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학원·역할을 선택하고 수신자 이메일을 입력합니다. 링크는 해당 주소에 한해 7일간 유효합니다.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4BFF5-0799-446A-A8BB-B6742A89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2F416-273F-43B5-B880-E6E48FFF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빈 폼에서는 초대 발송이 비활성화됩니다. 이메일은 발송하지 않았습니다.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E3840-44FA-4B0B-8691-45F2E05C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A14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4750092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164A8-9883-4D74-BA2C-AB69C7B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M01  학원 관리자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B538F-6495-437A-84F5-2B754B6A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FR-ANALYTICS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590c17dcd4013"/>
          <a:stretch xmlns:a="http://schemas.openxmlformats.org/drawingml/2006/main"/>
        </p:blipFill>
        <p:spPr>
          <a:xfrm xmlns:a="http://schemas.openxmlformats.org/drawingml/2006/main">
            <a:off x="495300" y="2551484"/>
            <a:ext cx="10382250" cy="412675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DB482-CCE1-4C8C-BA47-27D63E47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0E1A1-71F5-4886-BF30-C15CBCC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역할별 인원, 활성 반, 누락 프로필 및 보고 기간을 표시합니다. 조치 필요 항목에서 후속 작업으로 이동합니다.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946A9-AD4F-4D33-97C0-A1575D57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EDA51-EDCE-4395-AC16-9E3166B2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 연락처와 학생 행은 잘라냈습니다. 아래 영역의 참여도와 숙련도는 별도 지표입니다.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97B45-0162-408D-B54A-A385334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M01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3120043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DF953-0F4B-4924-B324-7D55D3FA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M02  반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D1646-D852-4791-9E3C-4D7DF55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FR-CLASS, FR-STAFF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3f05c5df44e42"/>
          <a:stretch xmlns:a="http://schemas.openxmlformats.org/drawingml/2006/main"/>
        </p:blipFill>
        <p:spPr>
          <a:xfrm xmlns:a="http://schemas.openxmlformats.org/drawingml/2006/main">
            <a:off x="495300" y="1592474"/>
            <a:ext cx="10382250" cy="60447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79410-0867-4EAE-9C28-F61C772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3FDB1-3D73-4189-9810-E0EE9153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상태, 배정 강좌, 등록 수, 담임과 보조 강사 수를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7D4DF-6759-46EA-B961-1C40FDE7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F9D47-3A0D-4652-9589-D379D071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열기로 설정에 접근합니다. 검색, 상태, 열 선택 및 페이지 이동으로 반을 찾습니다.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A4E2B-2BD7-476F-8B1D-8AD7063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M02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6072719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119AB-098D-4569-8981-D973C45F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M03  반 생성 대화상자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3FF1F-A8CF-46FB-BA1C-C0CECA5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FR-CLASS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54d9ae5e64bd2"/>
          <a:stretch xmlns:a="http://schemas.openxmlformats.org/drawingml/2006/main"/>
        </p:blipFill>
        <p:spPr>
          <a:xfrm xmlns:a="http://schemas.openxmlformats.org/drawingml/2006/main">
            <a:off x="2659540" y="1552575"/>
            <a:ext cx="6053771" cy="61245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6EECE-A24C-44FE-8618-D1D8A14D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2D4A7-DF3D-4DF3-8E90-DA3E4AFA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반 이름은 필수이고 대상 설명은 선택입니다. 강좌와 학생은 생성 후 추가합니다.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F96CE-751A-43BD-9F23-5822C9E9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12F03-58D2-42E0-B522-DB936C03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반 이름은 고유 식별자가 아닙니다. 소스 한도는 이름 120자, 설명 2,000자입니다.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6312B-9CEF-4465-8C8B-15F51F94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M03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9115702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BDC26-5638-443F-89C3-E774B35C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M04  반 상세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07BA5-BF82-48C8-B93C-83310C22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FR-CLASS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8530848de4e39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FA466-F31F-4B5E-A893-C683B5A3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E58B3-4784-4DD2-92BB-5A80C0B1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반 헤더가 강좌·학생·강사 정보를 구분합니다. 강좌 배정으로 해당 반의 커리큘럼 범위를 관리합니다.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2EACC-1769-4CA1-B77C-3F7365BB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865BA-08F6-4449-B6F4-1F5D4018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일반적인 종료 작업은 보관입니다. 배정 후에도 강좌 공개 여부에 따라 학생 접근을 제한합니다.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0FAC1-0781-4376-990C-5F1744C4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M04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7406350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26126-4720-4CB5-8A33-926B7918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M05  반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A4338-5F62-4818-95AF-E807D807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FR-CLASS, FR-POINTS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10364bfe748be"/>
          <a:stretch xmlns:a="http://schemas.openxmlformats.org/drawingml/2006/main"/>
        </p:blipFill>
        <p:spPr>
          <a:xfrm xmlns:a="http://schemas.openxmlformats.org/drawingml/2006/main">
            <a:off x="495300" y="2896936"/>
            <a:ext cx="10382250" cy="34358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606A3-7738-4DDA-A35B-5E1E3F5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8C1DA-3B0F-4990-B7F6-C8D1E42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인라인 편집기에서 요일별 시작·종료 시간을 묶습니다. 저장 전 구간 추가·제거가 가능합니다.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B5B27-E6AF-4F97-A256-4994817E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9B5DE-6BF2-45CB-819E-DCE0B21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최대 21개 구간과 자정을 넘는 시간을 허용합니다. 시간표가 없으면 출석 포인트를 지급하지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AD6B6-C95F-4B78-9812-5274A1D6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M05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5839834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C3AE5-4C1A-4794-9679-F2931F2C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M06  학원 구성원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10533-307C-4F89-B52D-5E5C84D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FR-PEOPLE, FR-ROLE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32e42354b4272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5FC51-0DE0-43FF-9332-59EDCE3C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7F326-788C-4F83-96B4-A102111A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 멤버십을 서버 검색·역할·상태 필터·페이지로 조회합니다. 제공 관리자에게 추가 역할 2개가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810B4-C1C4-439D-AE7A-213E0EFC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212DC-B7D3-4DD7-99BC-903A4169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필터링된 행은 기본 역할만으로 전체 권한을 설명할 수 없음을 보여 줍니다.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56AA4-5FCB-492F-8D4B-CC66E2C4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M06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623773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86387-F513-427F-8C77-953B1DF5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M07  구성원 파일 가져오기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B93B7-DCD3-485F-886D-B74C28C7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FR-PEOPLE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0c617172148fb"/>
          <a:stretch xmlns:a="http://schemas.openxmlformats.org/drawingml/2006/main"/>
        </p:blipFill>
        <p:spPr>
          <a:xfrm xmlns:a="http://schemas.openxmlformats.org/drawingml/2006/main">
            <a:off x="495300" y="1903427"/>
            <a:ext cx="10382250" cy="542287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2306E-BF7D-4557-80E7-9D80C62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9CE57-578C-4382-82DA-78CE997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CSV·XLSX, 최대 500행·5 MB를 지원합니다. email·role 필수, display_name·send_invitation 선택입니다.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74263-8D36-4062-AC01-EDC53A6E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73A82-856B-40AB-8745-71D8EC8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업로드 후 미리보기를 생성합니다. 검토·확정 후 멤버십·초대를 변경합니다.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9FB5E-AC4C-4E30-A823-115B286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M07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9987191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E064E-1EA1-4487-86EA-EFC33BD7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M08  학원 기능 설정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AD2FC-CD7F-428F-B034-5E20977E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학원 관리자  |  FR-UX, FR-POINTS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cdef7ddbd43fb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8C940-5CE1-47C6-AC25-BEC146FB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D70DB-17F3-4FC8-B820-23943BA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학원 관리자가 기능을 설정합니다. 반 순위는 포인트에 의존하며 반 현황보다 우선합니다.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09AF0-0F61-45EB-A65B-3DB23590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A8AF-83D1-45EA-9249-A306749F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반 순위를 켜면 포인트도 활성화됩니다. 이 동작은 스테이징 검증 대상입니다.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C39EE-816D-4169-A495-A1D33D63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M08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4902345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6732C-A9B4-46D0-BBA1-F07134B2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L01  커리큘럼 준비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0CCD8-A90E-44A5-83E7-DAE01D6E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팀장  |  FR-COURSE, FR-ANALYTICS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fb72ed1534945"/>
          <a:stretch xmlns:a="http://schemas.openxmlformats.org/drawingml/2006/main"/>
        </p:blipFill>
        <p:spPr>
          <a:xfrm xmlns:a="http://schemas.openxmlformats.org/drawingml/2006/main">
            <a:off x="495300" y="1809348"/>
            <a:ext cx="10382250" cy="561102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9780C-93BC-4D2F-9386-1E6448A4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4C12A-AB78-4F95-8B3E-AE606C76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공개·상위 숨김으로 차단·숨김 문제를 구분합니다. 공개 문제라도 상위가 숨김이면 차단됩니다.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08D94-6483-4FB3-8C3C-77D852A2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FCF4F-3446-48DF-B64E-CCAE4D8A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목록과 명단은 현재 상태이며 효과성은 선택 측정 기간을 사용합니다.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99892-5B13-4118-AC32-722AC7D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L01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6940582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A42D4-41CF-469A-8EE4-239214DD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L02  강좌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294EC-36A4-4164-86BE-C765ED26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팀장  |  FR-COURSE, FR-LIBRARY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7ff2c3c7a4cc5"/>
          <a:stretch xmlns:a="http://schemas.openxmlformats.org/drawingml/2006/main"/>
        </p:blipFill>
        <p:spPr>
          <a:xfrm xmlns:a="http://schemas.openxmlformats.org/drawingml/2006/main">
            <a:off x="495300" y="1740133"/>
            <a:ext cx="10382250" cy="5749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8D9C8-8706-4C52-9B1C-E754E8A3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1A087-9BB2-4F0D-BB52-B5AE278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공개 상태와 콘텐츠 수를 표시합니다. 라이브러리 복사본은 원본명, 업데이트 및 수정 상태를 유지합니다.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1DC88-C8A6-4DE6-9505-71D0039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0F6DF-6714-4102-A7A9-E27B95C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최신 상태와 사용자 수정 상태는 동시에 가능합니다. 원본 리비전과 로컬 변경은 별개입니다.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18E88-511F-4917-9093-CBC19EF6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L02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849571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99FDD-BFA8-4AB0-87C9-5408ECA8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L03  강좌 계층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8BEA7-9F33-40CF-9A9C-68DA028E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팀장  |  FR-COURSE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0ac2ed642416c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6EBAD-5CA5-4EF3-A041-48A35398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DDE5B-794B-4A0B-88D5-8ED1B78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모듈 안에 강의, 강의 안에 문제가 있습니다. 각 계층에 공개 제어와 순서가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4EB11-B94E-4E65-B8AD-1D7155CB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2EA59-4260-4E72-B590-AB5B95B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모든 콘텐츠 표시는 하위 항목에 적용됩니다. 강좌 게시 스위치는 별도입니다.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CD4FC-05B7-4261-9DF8-CDA5979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L03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8307843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F4F0D-9D24-4ED3-AA76-20406B0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L04  Excel 가져오기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43D4C-9F9F-4266-A102-7FFDE3C1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팀장  |  FR-IMPORT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1759512042b0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28E3A-FF60-4399-8C12-64CFF593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7169B-FF8A-424C-AC75-785AA92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준비 후 업로드·검토·결과로 진행합니다. 수정 시 현재 강좌를 내려받아 안정적인 키를 유지합니다.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D0B91-A2BF-439A-8997-2DEFF6B8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37EA3-5E1E-4DC7-9CAE-71C0A5E0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XLSX 한도는 10 MiB입니다. 행 제거는 콘텐츠 삭제가 아니며 신규 콘텐츠는 숨김으로 생성합니다.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26F15-3DB3-4128-9B6A-D464A40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L04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1328240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F8099-45D1-4AE3-BF7A-34ADF02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L05  문제 작성 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7B333-419F-48CA-8AB6-8D87D0E3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팀장  |  FR-COURSE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b8352f3f64bd1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88396-C4F6-44CC-A1FF-BD140C80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CFFB5-0F38-44E2-97F5-DB2850A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제목, 난이도, 리치 텍스트 설명으로 시작합니다. 아래에 시작 코드, 정답 코드 및 채점 테스트가 이어집니다.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CCBAC-1DEE-4D8E-B375-81B5776B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55E73-47C6-425F-81A2-7C5676D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빈 폼에는 제목·설명·정답 코드가 필요합니다. 구현 언어는 Python입니다.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C5156-57D9-4A2A-BD27-FDB951B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L05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55263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9629E-2701-46DE-9E72-C652FAB6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L06  테스트 및 힌트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A75B3-0AD9-4E23-BCAF-2410AFDF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팀장  |  FR-COURSE, FR-GRADE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3bae5d1ee4baf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5E1B1-367B-4A2D-A927-C072E32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D01F5-3B17-4BF2-816E-5B2BC059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테스트별 입력·기대 출력·샘플 또는 비공개 상태를 설정합니다. 힌트는 선택이며 순서가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2ED74-ECA7-4507-8DEA-3D0DBA24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8A399-A71D-4A94-A5F2-6AEDB850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테스트 없이 저장은 가능하지만 제출은 불가합니다. 학생에게 비공개 기대 출력과 정답 코드를 전달하면 안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00B15-F12C-41E3-BC95-DF25021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L06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20060657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C4572-3C49-4294-A7C2-E37AA505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L07  학원 콘텐츠 라이브러리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58C00-A0FD-469A-9E58-41644FAA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팀장  |  FR-LIBRARY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88c5fee4d4594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37F03-3973-40EB-B40D-EB021DCF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59BDB-D5A4-433A-AF37-AF9D68F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게시 강좌를 미리 볼 수 있으며 강좌 카드에 기존 로컬 복사본을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65944-3679-4824-BA1E-AB518B5A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996CA-EAEE-4E2F-ABF2-2E722BE7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복사본 도입·업데이트에는 권한이 필요합니다. 이번 검토에서는 목록만 열었습니다.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8D860-9629-4EBE-8806-5DB12054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L07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0436236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416AB-39EF-470E-97B9-6144DC4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T01  강사 지도 대기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F2344-0206-4880-B7C4-7CD1E81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강사  |  FR-ANALYTICS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0b42dabf647a8"/>
          <a:stretch xmlns:a="http://schemas.openxmlformats.org/drawingml/2006/main"/>
        </p:blipFill>
        <p:spPr>
          <a:xfrm xmlns:a="http://schemas.openxmlformats.org/drawingml/2006/main">
            <a:off x="495300" y="2738215"/>
            <a:ext cx="10382250" cy="375329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FD54F-7CE6-44CA-B4BE-F2E794AE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1649C-5F21-4C24-A939-79392171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반복 실패·비활성 등 측정 사유에 따라 배정 학생의 지도 우선순위를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0EF1B-A688-4260-B6E6-69148D13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8A778-1A8D-4BCE-B3B7-82167911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제공된 학생 부분만 캡처했습니다. 준비도는 강의 시도 학생 최소 3명이 필요합니다.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C8E3A-5AB9-439C-815C-6434C2A0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T01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57615303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F2002-C8E7-41D5-9818-FE56D058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T02  배정 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7188-D929-4B82-9621-63864D09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강사  |  FR-MONITOR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1cd4eedd74844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EBEB2-22F2-4DC2-8D3B-4E36E030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A87A8-8518-4748-A5BE-0F92728E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반 카드가 등록·온라인·풀이 중 인원을 구분하며 실시간 명단으로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3933F-9EAC-4B10-97B2-41486AF0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25F69-3BA8-4965-901C-D50E1AD7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두 반의 수강 좌석 5개는 개요의 고유 학생 3명에 해당합니다.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7F77F-F8F0-461E-80B5-339CCA39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T02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1617860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7A69B-32BC-47D1-A6E1-2B8AD95F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T03  오프라인 실시간 명단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A6226-86FE-4F4A-8CB9-EEE613A2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강사  |  FR-MONITOR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ebfa7c755429e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F3C3E-B416-4AF2-980D-27345F16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E9CC9-7F2D-449C-897C-624B6171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이름·활동 상태로 명단을 필터링합니다. 제공 학생은 오프라인이며 현재 문제에 참여하지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24611-6622-42D0-91BD-C23E7607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06875-0001-41A9-ABD8-E58FB836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실제 오프라인 상태입니다. 활성 관찰, 협업, 터미널 동기화는 미검증 상태입니다.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E74A9-3643-42A0-80F6-CEACB21F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T03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9080380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1C673-20EE-4394-8B3B-138DFA19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T04  학생 진도 상세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ABFF2-1217-42E4-8321-ACA777FC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강사  |  FR-RESULT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56fbd32f7454b"/>
          <a:stretch xmlns:a="http://schemas.openxmlformats.org/drawingml/2006/main"/>
        </p:blipFill>
        <p:spPr>
          <a:xfrm xmlns:a="http://schemas.openxmlformats.org/drawingml/2006/main">
            <a:off x="495300" y="3275067"/>
            <a:ext cx="10382250" cy="267959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CCD1B-185E-416F-9A2F-36B3A37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4C0F5-7F5B-4B19-A961-0BD6C4C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선택 학생의 누적 필수 문제 진도, 시도, 정답 및 주의 문제를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8D08F-4D72-4CA6-BC0A-FFCE4818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BC15-E70D-4BC9-8637-8380D16F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John의 상세만 캡처했습니다. 문제별·시도별 검토에는 별도 권한 조회를 사용합니다.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2F0A9-C4F4-494A-A9EB-63BD742E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T04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52005833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05A4C-2214-46EE-8E8D-5592C71D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T05  강사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6BD2E-D2E6-4875-BB04-BBAB6CFC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강사  |  FR-ANALYTICS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6bda4c7824743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D005A-0296-4D3C-9AF5-EB3090FE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8E653-274C-4870-90D9-878C463F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반·강좌·기간 필터로 지표 범위를 정하고 검색으로 제공 학생만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8AFA3-54A7-411D-84F8-16C3035C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31597-C2AE-45AA-A6E7-613A057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점수가 없으면 접근성 텍스트와 대시로 표시합니다. 실제 측정된 0점으로 해석하면 안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ED735-EB8F-494A-8D15-83F2A44A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T05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86258309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F1F58-D2F0-43A1-A598-C5C64941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S01  학생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19898-7703-45F9-8485-B01CB53E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FR-LEARN, FR-ANALYTICS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63011b2bc4a8a"/>
          <a:stretch xmlns:a="http://schemas.openxmlformats.org/drawingml/2006/main"/>
        </p:blipFill>
        <p:spPr>
          <a:xfrm xmlns:a="http://schemas.openxmlformats.org/drawingml/2006/main">
            <a:off x="495300" y="1977285"/>
            <a:ext cx="10382250" cy="52751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4DC37-06A8-4C2C-8EEC-6EECFCC4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F0152-B987-4BB0-8B4C-10509952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계속하기로 최근 작업을 재개합니다. 해결·시도 수, 평균 점수, 집계 학습 시간, 제출 정답률을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EE4C1-7E5F-4536-A29A-8ED611BF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7E8F7-866D-49EA-B6C7-C7972477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선택 기간과 본인에 대한 수치이며 학원 전체 통계가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6D0DD-A47E-4246-BA53-435D02B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S01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1399029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0A232-ED9E-4D2B-9242-4E4123F6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S02  학습 반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59EAD-5FBB-4C66-BFDE-52E4A99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FR-CLASS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19cd937104c90"/>
          <a:stretch xmlns:a="http://schemas.openxmlformats.org/drawingml/2006/main"/>
        </p:blipFill>
        <p:spPr>
          <a:xfrm xmlns:a="http://schemas.openxmlformats.org/drawingml/2006/main">
            <a:off x="495300" y="1867146"/>
            <a:ext cx="10382250" cy="549543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78232-69E4-487A-8B58-F569C0E5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4F359-A226-4D75-B9A9-09A004F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같은 강좌가 여러 등록 반에 있으면 학생이 세션·포인트에 사용할 반을 선택합니다.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E6F13-90DF-457C-9768-841D6926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CC243-1F79-4733-AC2F-BFDA8BDC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선택 classId가 문제 맥락에 포함됩니다. 이름이 비슷해도 서로 다른 반 기록입니다.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F6A41-CEAF-4B71-9BC5-30F9CB08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S02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8294114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13538-7072-4377-99F2-5E8F7211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S03  Python 문제 작업 공간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8ABCD-5EC9-4162-BFEC-EC945EDE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FR-LEARN, FR-DRAFT, FR-GRADE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fd0d529d045af"/>
          <a:stretch xmlns:a="http://schemas.openxmlformats.org/drawingml/2006/main"/>
        </p:blipFill>
        <p:spPr>
          <a:xfrm xmlns:a="http://schemas.openxmlformats.org/drawingml/2006/main">
            <a:off x="762000" y="1419225"/>
            <a:ext cx="13716000" cy="6877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1868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FA22B-F12E-4D06-B313-3E96F3E7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S04  제출 전 결과 패널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37695-0DE4-4181-A5A1-36CB7C0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FR-RESULT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e0d5dae1c433b"/>
          <a:stretch xmlns:a="http://schemas.openxmlformats.org/drawingml/2006/main"/>
        </p:blipFill>
        <p:spPr>
          <a:xfrm xmlns:a="http://schemas.openxmlformats.org/drawingml/2006/main">
            <a:off x="495300" y="2342173"/>
            <a:ext cx="10382250" cy="454537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C25C3-2129-43BB-8483-ED0FD4E4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F9A3A-80B4-4FCB-992A-73907A8B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결과 탭은 현재 세션의 채점 결과를 보려면 먼저 제출해야 한다고 안내합니다.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7165A-62E9-4F86-B8B8-D0CFE11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5EC27-5A84-4744-9F62-1E163F7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빈 결과 패널의 캡처입니다. 과거 정답 이력으로 새 결과를 만들지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F5B19-EB7B-4B99-8391-021034D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S04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96200593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B393F-5C24-44CA-B5AC-DD2A4B0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S05  답안 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BD49B-5E29-4143-9DDC-A857CEDE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FR-RESULT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3364b6a574f2f"/>
          <a:stretch xmlns:a="http://schemas.openxmlformats.org/drawingml/2006/main"/>
        </p:blipFill>
        <p:spPr>
          <a:xfrm xmlns:a="http://schemas.openxmlformats.org/drawingml/2006/main">
            <a:off x="495300" y="1749362"/>
            <a:ext cx="10382250" cy="573100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449F1-17D9-4DA0-BA9A-EBB68CB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6D0D1-7A18-4F98-9BFC-DBA015DC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결과, 점수, 통과·전체 테스트 수, 풀이 시간, 제출 시각 및 계층 필터를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2D89C-06EE-484B-AB0E-19B90023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E1F2E-42F0-42CA-ACA5-2C5FCAF9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요약은 전체 이력을 집계합니다. 목록 행에는 비공개 테스트 데이터와 소스 코드가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60B3B-5E3C-435C-A072-A17C2FDD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S05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209670711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98C62-7414-46ED-B672-6153178E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S06  내 포인트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A8926-EA70-4966-A329-BD9CB38B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FR-POINTS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771f0ab1f485e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980B1-5FB8-4F54-B206-79BC8657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9FB47-6760-4DB8-BFE1-1C4DE6C5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선택 기간·반의 적립 포인트와 아래의 순위·적립 규칙을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214AE-D05B-47BB-B66C-40E2195C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EC82E-DB49-4B36-90F8-8E03F10A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과거에 문제를 풀었어도 포인트 0은 유효한 상태입니다. 지급 시점과 자격은 별도 검증이 필요합니다.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A2E5A-03BB-4472-81D0-E173F924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S06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4282135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6E0BA-2777-4F1B-8BD9-18822A6A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S07  학생 반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65B84-2A9C-4DC1-BC52-D6F7DC9A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FR-CLASS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3a030bb224ed7"/>
          <a:stretch xmlns:a="http://schemas.openxmlformats.org/drawingml/2006/main"/>
        </p:blipFill>
        <p:spPr>
          <a:xfrm xmlns:a="http://schemas.openxmlformats.org/drawingml/2006/main">
            <a:off x="495300" y="1684761"/>
            <a:ext cx="10382250" cy="586020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8639E-F2A5-4197-894F-F657B5D6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6630F-4CA1-4E33-955B-C9179E52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등록 반 카드에 강좌 수와 담임을 표시합니다. 반을 열면 해당 커리큘럼 범위로 이동합니다.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E9770-04DB-4F97-99F0-18D79887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57E24-F359-4C35-8D16-D9BF4BAA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전역 사용자 계정을 추가 생성하지 않고 동일 강좌를 여러 반에 배정할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CC785-5FC9-4E3C-A9E1-2511C148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S07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94288388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AEF98-CCEE-4A0C-A8DD-D61111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S08  학생 강좌 및 초안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8BCA2-470B-4E86-9870-87357874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FR-LEARN, FR-DRAFT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0a067bdb141bc"/>
          <a:stretch xmlns:a="http://schemas.openxmlformats.org/drawingml/2006/main"/>
        </p:blipFill>
        <p:spPr>
          <a:xfrm xmlns:a="http://schemas.openxmlformats.org/drawingml/2006/main">
            <a:off x="495300" y="2284624"/>
            <a:ext cx="10382250" cy="46604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7321A-07FE-4047-9A4D-D178ACBC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DE443-6ABA-4819-A66E-046EBE3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계속 풀기에는 강좌 카드와 별도로 저장 초안이 나타납니다. 초안 폐기는 별도 작업입니다.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D5C8E-8BD0-4A28-9EF5-C2EE6E2D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B9ABF-5DD1-44D7-8AB2-C00C8404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아래에는 문제 0개인 공개 강좌가 준비 중으로 표시됩니다. 이런 강좌가 항상 제외된다고 가정하지 마십시오.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45604-DAF9-4C60-A4A1-8219965C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S08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60336266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B0B68-1819-4BD3-9C5B-BC5FB70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409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S09  계정 프로필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C2DE6-B250-45EA-9608-447CEEC8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학생  |  FR-PROFILE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5468bad18480b"/>
          <a:stretch xmlns:a="http://schemas.openxmlformats.org/drawingml/2006/main"/>
        </p:blipFill>
        <p:spPr>
          <a:xfrm xmlns:a="http://schemas.openxmlformats.org/drawingml/2006/main">
            <a:off x="495300" y="1718987"/>
            <a:ext cx="10382250" cy="579175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95AA3-CC2B-470D-981F-C8678490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61925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AE1E5-2535-4D13-9B66-C1C8784E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09800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전역 표시 이름과 선택 전화번호 옆에 고정 사용자 이름·플랫폼 역할을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00A6C-8D48-4B26-BBCF-9A8A21E2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337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AA865-6886-4FEB-B206-8620AE6A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334000"/>
            <a:ext cx="3371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944"/>
                </a:solidFill>
                <a:latin typeface="Apple SD Gothic Neo"/>
                <a:ea typeface="Apple SD Gothic Neo"/>
                <a:cs typeface="Apple SD Gothic Neo"/>
              </a:rPr>
              <a:t>로그인 이메일과 학원 프로필 상세는 잘라냈습니다. 계정 정보를 저장하지 않았습니다.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3DDD6-40A4-42D9-941D-99A94DF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58150"/>
            <a:ext cx="1419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078"/>
                </a:solidFill>
                <a:latin typeface="Apple SD Gothic Neo"/>
                <a:ea typeface="Apple SD Gothic Neo"/>
                <a:cs typeface="Apple SD Gothic Neo"/>
              </a:rPr>
              <a:t>cs.coveedu.com  ·  S09  ·  캡처 2026년 9월 28일  ·  원본 해상도 이미지는 supporting 폴더 참조</a:t>
            </a:r>
          </a:p>
        </p:txBody>
      </p:sp>
    </p:spTree>
    <p:extLst>
      <p:ext uri="{BB962C8B-B14F-4D97-AF65-F5344CB8AC3E}">
        <p14:creationId xmlns:p14="http://schemas.microsoft.com/office/powerpoint/2010/main" val="1447681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2026-09-28T09:36:04.3940000Z</dcterms:created>
  <dcterms:modified xsi:type="dcterms:W3CDTF">2026-09-28T09:36:04.3940000Z</dcterms:modified>
</coreProperties>
</file>